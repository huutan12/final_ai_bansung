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ef645fb92_0_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ef645fb9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5eda2a0d0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5eda2a0d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5eda2a0d0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5eda2a0d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5eda2a0d0_0_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5eda2a0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5eda2a0d0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5eda2a0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5eda2a0d0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5eda2a0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5eda2a0d0_0_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c5eda2a0d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5eda2a0d0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5eda2a0d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c5eda2a0d0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c5eda2a0d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5eda2a0d0_0_7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5eda2a0d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c5eda2a0d0_0_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c5eda2a0d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5eda2a0d0_0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5eda2a0d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c5eda2a0d0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c5eda2a0d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5eda2a0d0_0_1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c5eda2a0d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5eda2a0d0_0_1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5eda2a0d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5eda2a0d0_0_1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5eda2a0d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5eda2a0d0_0_1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c5eda2a0d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5eda2a0d0_0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c5eda2a0d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c5eda2a0d0_0_1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c5eda2a0d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5eda2a0d0_0_1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c5eda2a0d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c5eda2a0d0_0_1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c5eda2a0d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5eda2a0d0_0_1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5eda2a0d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5eda2a0d0_0_1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5eda2a0d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c5eda2a0d0_0_2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c5eda2a0d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5eda2a0d0_0_2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c5eda2a0d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c5eda2a0d0_0_2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c5eda2a0d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c5eda2a0d0_0_2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c5eda2a0d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c5eda2a0d0_0_2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c5eda2a0d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5eda2a0d0_0_2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c5eda2a0d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c5eda2a0d0_0_2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c5eda2a0d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c5eda2a0d0_0_2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c5eda2a0d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c5eda2a0d0_0_2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c5eda2a0d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f645fb92_0_3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aef645fb9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DTU- AI Slide Templat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  <a:defRPr b="1" sz="3200">
                <a:solidFill>
                  <a:srgbClr val="FF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  <a:defRPr b="1" sz="2800">
                <a:solidFill>
                  <a:srgbClr val="FF0000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50213" y="521139"/>
            <a:ext cx="1643576" cy="98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3706100" y="1558636"/>
            <a:ext cx="1731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503043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1056450" y="4526323"/>
            <a:ext cx="703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Lecturer: Nguyễn Thành An, MSc.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9E9E9E"/>
                </a:solidFill>
              </a:defRPr>
            </a:lvl1pPr>
            <a:lvl2pPr lvl="1">
              <a:buNone/>
              <a:defRPr>
                <a:solidFill>
                  <a:srgbClr val="9E9E9E"/>
                </a:solidFill>
              </a:defRPr>
            </a:lvl2pPr>
            <a:lvl3pPr lvl="2">
              <a:buNone/>
              <a:defRPr>
                <a:solidFill>
                  <a:srgbClr val="9E9E9E"/>
                </a:solidFill>
              </a:defRPr>
            </a:lvl3pPr>
            <a:lvl4pPr lvl="3">
              <a:buNone/>
              <a:defRPr>
                <a:solidFill>
                  <a:srgbClr val="9E9E9E"/>
                </a:solidFill>
              </a:defRPr>
            </a:lvl4pPr>
            <a:lvl5pPr lvl="4">
              <a:buNone/>
              <a:defRPr>
                <a:solidFill>
                  <a:srgbClr val="9E9E9E"/>
                </a:solidFill>
              </a:defRPr>
            </a:lvl5pPr>
            <a:lvl6pPr lvl="5">
              <a:buNone/>
              <a:defRPr>
                <a:solidFill>
                  <a:srgbClr val="9E9E9E"/>
                </a:solidFill>
              </a:defRPr>
            </a:lvl6pPr>
            <a:lvl7pPr lvl="6">
              <a:buNone/>
              <a:defRPr>
                <a:solidFill>
                  <a:srgbClr val="9E9E9E"/>
                </a:solidFill>
              </a:defRPr>
            </a:lvl7pPr>
            <a:lvl8pPr lvl="7">
              <a:buNone/>
              <a:defRPr>
                <a:solidFill>
                  <a:srgbClr val="9E9E9E"/>
                </a:solidFill>
              </a:defRPr>
            </a:lvl8pPr>
            <a:lvl9pPr lvl="8">
              <a:buNone/>
              <a:defRPr>
                <a:solidFill>
                  <a:srgbClr val="9E9E9E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pic>
        <p:nvPicPr>
          <p:cNvPr id="24" name="Google Shape;24;p4" title="logo tdtu mới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955" y="489466"/>
            <a:ext cx="1273318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/>
        </p:nvSpPr>
        <p:spPr>
          <a:xfrm>
            <a:off x="51941" y="6271575"/>
            <a:ext cx="15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2026/05/22</a:t>
            </a:r>
            <a:endParaRPr b="1" sz="1800">
              <a:solidFill>
                <a:srgbClr val="9E9E9E"/>
              </a:solidFill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610450" y="6271575"/>
            <a:ext cx="686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E9E9E"/>
                </a:solidFill>
              </a:rPr>
              <a:t>503043 - Chapter 3: Constraint Satisfaction</a:t>
            </a:r>
            <a:endParaRPr b="1" sz="1800">
              <a:solidFill>
                <a:srgbClr val="9E9E9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b="1" sz="1800">
                <a:solidFill>
                  <a:schemeClr val="dk1"/>
                </a:solidFill>
              </a:defRPr>
            </a:lvl1pPr>
            <a:lvl2pPr lvl="1" algn="r">
              <a:buNone/>
              <a:defRPr b="1" sz="1800">
                <a:solidFill>
                  <a:schemeClr val="dk1"/>
                </a:solidFill>
              </a:defRPr>
            </a:lvl2pPr>
            <a:lvl3pPr lvl="2" algn="r">
              <a:buNone/>
              <a:defRPr b="1" sz="1800">
                <a:solidFill>
                  <a:schemeClr val="dk1"/>
                </a:solidFill>
              </a:defRPr>
            </a:lvl3pPr>
            <a:lvl4pPr lvl="3" algn="r">
              <a:buNone/>
              <a:defRPr b="1" sz="1800">
                <a:solidFill>
                  <a:schemeClr val="dk1"/>
                </a:solidFill>
              </a:defRPr>
            </a:lvl4pPr>
            <a:lvl5pPr lvl="4" algn="r">
              <a:buNone/>
              <a:defRPr b="1" sz="1800">
                <a:solidFill>
                  <a:schemeClr val="dk1"/>
                </a:solidFill>
              </a:defRPr>
            </a:lvl5pPr>
            <a:lvl6pPr lvl="5" algn="r">
              <a:buNone/>
              <a:defRPr b="1" sz="1800">
                <a:solidFill>
                  <a:schemeClr val="dk1"/>
                </a:solidFill>
              </a:defRPr>
            </a:lvl6pPr>
            <a:lvl7pPr lvl="6" algn="r">
              <a:buNone/>
              <a:defRPr b="1" sz="1800">
                <a:solidFill>
                  <a:schemeClr val="dk1"/>
                </a:solidFill>
              </a:defRPr>
            </a:lvl7pPr>
            <a:lvl8pPr lvl="7" algn="r">
              <a:buNone/>
              <a:defRPr b="1" sz="1800">
                <a:solidFill>
                  <a:schemeClr val="dk1"/>
                </a:solidFill>
              </a:defRPr>
            </a:lvl8pPr>
            <a:lvl9pPr lvl="8" algn="r">
              <a:buNone/>
              <a:defRPr b="1" sz="1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olab.research.google.com/drive/1wBq9PefO61eh3CLQvM9PZDCmRkIs9vn4?usp=sharing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311700" y="2078175"/>
            <a:ext cx="8520600" cy="16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11700" y="3778827"/>
            <a:ext cx="85206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8: Constraint Satisfaction Problems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Constraint Satisfaction Problems (CSPs)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Constraint Propagation: Inference in CSPs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Backtracking Search for CSPs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Local Search for CSPs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onstraint Satisfaction Problems (CSPs)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constraint satisfaction problem (CSP) uses a factored representation for each state.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State = a set of variables and each of which has a value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Solution = each variable has a value that satisfies all constraints on that variable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Take advantage of the structure of states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General-purpose rather than problem-specific heuristics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Identify combinations of variable-value that violate the constraints → eliminate large portions of the search space all at once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Solutions to complex problems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Satisfaction Problems (CSPs)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CSP consists of the following three components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𝑿 = {𝑋</a:t>
            </a:r>
            <a:r>
              <a:rPr baseline="-25000" lang="en"/>
              <a:t>1</a:t>
            </a:r>
            <a:r>
              <a:rPr lang="en"/>
              <a:t>,.., 𝑋</a:t>
            </a:r>
            <a:r>
              <a:rPr baseline="-25000" lang="en"/>
              <a:t>n</a:t>
            </a:r>
            <a:r>
              <a:rPr lang="en"/>
              <a:t>}: a set of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𝑫 = {𝐷</a:t>
            </a:r>
            <a:r>
              <a:rPr baseline="-25000" lang="en"/>
              <a:t>1</a:t>
            </a:r>
            <a:r>
              <a:rPr lang="en"/>
              <a:t>,.., 𝐷</a:t>
            </a:r>
            <a:r>
              <a:rPr baseline="-25000" lang="en"/>
              <a:t>n</a:t>
            </a:r>
            <a:r>
              <a:rPr lang="en"/>
              <a:t>}: a set of domains, one for each variable.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𝑪: a set of constraints that state allowable combinations of values.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𝐶 consists of a pair &lt;𝑠𝑐𝑜𝑝𝑒, 𝑟𝑒𝑙&gt;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𝑠𝑐𝑜𝑝𝑒: a tuple of variables that participate in the constraint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 relation 𝑟𝑒𝑙 defines the values that participated variables can take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in CSPs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Assume that both 𝑋</a:t>
            </a:r>
            <a:r>
              <a:rPr baseline="-25000" lang="en"/>
              <a:t>1</a:t>
            </a:r>
            <a:r>
              <a:rPr lang="en"/>
              <a:t> and 𝑋</a:t>
            </a:r>
            <a:r>
              <a:rPr baseline="-25000" lang="en"/>
              <a:t>2</a:t>
            </a:r>
            <a:r>
              <a:rPr lang="en"/>
              <a:t> have the domain {𝐴,𝐵}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“Two variables must have different values”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relation can be an explicit list of all tuples of values that satisfy the constraint.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&lt;(𝑋</a:t>
            </a:r>
            <a:r>
              <a:rPr baseline="-25000" lang="en"/>
              <a:t>1</a:t>
            </a:r>
            <a:r>
              <a:rPr lang="en"/>
              <a:t>, 𝑋</a:t>
            </a:r>
            <a:r>
              <a:rPr baseline="-25000" lang="en"/>
              <a:t>2</a:t>
            </a:r>
            <a:r>
              <a:rPr lang="en"/>
              <a:t>), {(𝐴, 𝐵), (𝐵, 𝐴)}&gt;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It can be an abstract relation that supports two operations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Test whether a tuple is a member of the relation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Enumerate the members of the relation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&lt;(𝑋</a:t>
            </a:r>
            <a:r>
              <a:rPr baseline="-25000" lang="en"/>
              <a:t>1</a:t>
            </a:r>
            <a:r>
              <a:rPr lang="en"/>
              <a:t>, 𝑋</a:t>
            </a:r>
            <a:r>
              <a:rPr baseline="-25000" lang="en"/>
              <a:t>2</a:t>
            </a:r>
            <a:r>
              <a:rPr lang="en"/>
              <a:t>), 𝑋</a:t>
            </a:r>
            <a:r>
              <a:rPr baseline="-25000" lang="en"/>
              <a:t>1 </a:t>
            </a:r>
            <a:r>
              <a:rPr lang="en" sz="1650">
                <a:solidFill>
                  <a:srgbClr val="404040"/>
                </a:solidFill>
                <a:highlight>
                  <a:srgbClr val="FFFFFF"/>
                </a:highlight>
              </a:rPr>
              <a:t>≠</a:t>
            </a:r>
            <a:r>
              <a:rPr lang="en"/>
              <a:t> 𝑋</a:t>
            </a:r>
            <a:r>
              <a:rPr baseline="-25000" lang="en"/>
              <a:t>2</a:t>
            </a:r>
            <a:r>
              <a:rPr lang="en"/>
              <a:t>&gt;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 for CSPs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state is defined by an assignment of values to some or all the variables.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solution to a CSP is a </a:t>
            </a:r>
            <a:r>
              <a:rPr b="1" lang="en"/>
              <a:t>consistent</a:t>
            </a:r>
            <a:r>
              <a:rPr lang="en"/>
              <a:t> – </a:t>
            </a:r>
            <a:r>
              <a:rPr b="1" lang="en"/>
              <a:t>complete</a:t>
            </a:r>
            <a:r>
              <a:rPr lang="en"/>
              <a:t> assignment.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 </a:t>
            </a:r>
            <a:r>
              <a:rPr b="1" lang="en"/>
              <a:t>consistent</a:t>
            </a:r>
            <a:r>
              <a:rPr lang="en"/>
              <a:t> assignment does not violate any constraints.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 </a:t>
            </a:r>
            <a:r>
              <a:rPr b="1" lang="en"/>
              <a:t>complete</a:t>
            </a:r>
            <a:r>
              <a:rPr lang="en"/>
              <a:t> assignment has every variable assigned, while a </a:t>
            </a:r>
            <a:r>
              <a:rPr b="1" lang="en"/>
              <a:t>partial</a:t>
            </a:r>
            <a:r>
              <a:rPr lang="en"/>
              <a:t> assignment assigns values to only some variables.</a:t>
            </a:r>
            <a:endParaRPr/>
          </a:p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Map Coloring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state is assigned a color in {red, green, blue}.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Adjacent states have different colors.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Constraint graph: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Nodes ⇔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Arcs ⇔ Constraints</a:t>
            </a:r>
            <a:endParaRPr/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613" y="3588175"/>
            <a:ext cx="6760774" cy="30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Map Coloring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Variables: 𝑋 = {𝑊𝐴, 𝑁𝑇, 𝑄, 𝑁𝑆𝑊, 𝑉, 𝑆𝐴, 𝑇}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Domains: 𝐷</a:t>
            </a:r>
            <a:r>
              <a:rPr baseline="-25000" i="1" lang="en"/>
              <a:t>i</a:t>
            </a:r>
            <a:r>
              <a:rPr lang="en"/>
              <a:t> = {𝑟𝑒𝑑, 𝑔𝑟𝑒𝑒𝑛, 𝑏𝑙𝑢𝑒}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Constraints: Adjacent regions must have different colors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{𝑆𝐴 ≠ 𝑊𝐴, 𝑆𝐴 ≠ 𝑁𝑇, 𝑆𝐴 ≠ 𝑄, 𝑆𝐴 ≠ 𝑁𝑆𝑊,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𝑆𝐴 ≠ 𝑉, 𝑊𝐴 ≠ 𝑁𝑇, 𝑁𝑇 ≠ 𝑄, 𝑄 ≠ 𝑁𝑆𝑊 , 𝑁𝑆𝑊 ≠ 𝑉}</a:t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𝑆𝐴 ≠ 𝑊𝐴 is a shortcut of &lt;(𝑆𝐴,𝑊𝐴), 𝑆𝐴 ≠ 𝑊𝐴&gt;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𝑆𝐴 ≠ 𝑊𝐴 can be fully enumerated as</a:t>
            </a:r>
            <a:endParaRPr/>
          </a:p>
          <a:p>
            <a:pPr indent="0" lvl="0" marL="9144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{(red,green), (red,blue), (green,red),</a:t>
            </a:r>
            <a:endParaRPr/>
          </a:p>
          <a:p>
            <a:pPr indent="0" lvl="0" marL="9144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(green,blue), (blue,red), (blue,green)}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Map Coloring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There are many possible solutions to this problem.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{𝑊𝐴 = 𝑟𝑒𝑑, 𝑁𝑇 = 𝑔𝑟𝑒𝑒𝑛, 𝑄 = 𝑟𝑒𝑑, 𝑁𝑆𝑊 = 𝑔𝑟𝑒𝑒𝑛,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𝑉 = 𝑟𝑒𝑑, 𝑆𝐴 = 𝑏𝑙𝑢𝑒, 𝑇 = 𝑟𝑒𝑑}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625" y="3159625"/>
            <a:ext cx="4144725" cy="347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CSPs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Provide natural representation for a wide variety of problems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Many problems intractable in regular state-space search can be solved quickly with CSP formulation.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Better insights to the problem and its solution.</a:t>
            </a:r>
            <a:endParaRPr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Variations on the CSP formalism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Discrete and finite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𝑛 variables, domain size 𝑑 → 𝑂(𝑑</a:t>
            </a:r>
            <a:r>
              <a:rPr baseline="30000" lang="en"/>
              <a:t>𝑛</a:t>
            </a:r>
            <a:r>
              <a:rPr lang="en"/>
              <a:t>) complete assignment</a:t>
            </a:r>
            <a:r>
              <a:rPr lang="en"/>
              <a:t>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</a:t>
            </a:r>
            <a:r>
              <a:rPr lang="en"/>
              <a:t>map coloring, scheduling with time limits, 8-queens etc.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Discrete, infinite domains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Sets of Integers, strings, etc.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job scheduling without deadlines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Constraint language: understand constraints without enumeration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Continuous domains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Real-world problems often involve continuous domains and even real-valued variables.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CPSs in practise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Operations Research (scheduling, timetabling)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Scheduling the time of observations on the Hubble Space Telescope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Airline schedules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Linear programming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Constraints must be linear equalities or inequalities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solved in time polynomial in the number of variables.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Bioinformatics (DNA sequencing)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Electrical engineering (circuit layout-ing)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Cryptography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Computer vision: image interpretation</a:t>
            </a:r>
            <a:endParaRPr/>
          </a:p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constraints</a:t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Unary constraint: restrict the value of a single variable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𝑆𝐴 ≠ 𝑔𝑟𝑒𝑒𝑛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Binary constraint: relate two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𝑆𝐴 ≠ 𝑊𝐴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Higher-order constraints: involve three or more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Professors A, B, and C cannot be on a committee together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Always possible to be represented by multiple binary constraints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Global constraints: involving an arbitrary number of variables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𝐴𝑙𝑙𝑑𝑖𝑓𝑓 = all variables involved must have different values</a:t>
            </a:r>
            <a:endParaRPr/>
          </a:p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 constraints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Which solutions are preferred → soft constraints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𝑟𝑒𝑑 is better than 𝑔𝑟𝑒𝑒𝑛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this often can be represented by a cost for each variable assignment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Constraint optimization problem (COP): a combination of optimization with CSPs → linear programming</a:t>
            </a:r>
            <a:endParaRPr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propagation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Constraints help to reduce the number of legal values for a variable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legal values for another variable are also reduced.</a:t>
            </a:r>
            <a:endParaRPr/>
          </a:p>
          <a:p>
            <a:pPr indent="-368300" lvl="0" marL="457200" rtl="0" algn="just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Intertwined with search, or done as a preprocessing step.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Enforcing local consistency in each part of a graph causes inconsistent values to be eliminated throughout the graph.</a:t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consistency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single variable is node-consistent if all the values in the variable’s domain satisfy the variable’s unary constraints.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Eliminate all the unary constraints in a CSP by running node consistency.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E.g., The South Australians dislike green, the domain of {𝑆𝐴} will be {𝑟𝑒𝑑, </a:t>
            </a:r>
            <a:r>
              <a:rPr lang="en" strike="sngStrike"/>
              <a:t>𝑔𝑟𝑒𝑒𝑛</a:t>
            </a:r>
            <a:r>
              <a:rPr lang="en"/>
              <a:t>, 𝑏𝑙𝑢𝑒}</a:t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consistency</a:t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 variable in a CSP is arc-consistent if every value in its domain satisfies the variable’s binary constraints.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Arc consistency may have no effect in several cases.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E.g., the Australia map, no matter what value chosen for 𝑆𝐴 (or for 𝑊𝐴), there is a valid value for the other variable.</a:t>
            </a:r>
            <a:endParaRPr/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consistency</a:t>
            </a:r>
            <a:endParaRPr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37" y="1601275"/>
            <a:ext cx="6219726" cy="5043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4538" y="1601279"/>
            <a:ext cx="2619462" cy="231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 consistency</a:t>
            </a:r>
            <a:endParaRPr/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Run as a preprocessor before the search starts or after each assignment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AC must be run repeatedly until no inconsistency remains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Need a systematic method for arc-checking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If 𝑋 loses a value, neighbors of 𝑋 need to be rechecked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→ incoming arcs can become inconsistent again while outgoing arcs stay still</a:t>
            </a:r>
            <a:endParaRPr/>
          </a:p>
        </p:txBody>
      </p:sp>
      <p:sp>
        <p:nvSpPr>
          <p:cNvPr id="192" name="Google Shape;192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AC-3 algorithm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AC-3(csp)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returns</a:t>
            </a:r>
            <a:r>
              <a:rPr lang="en"/>
              <a:t> false if an inconsistency is found and true otherwise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inputs</a:t>
            </a:r>
            <a:r>
              <a:rPr lang="en"/>
              <a:t>: csp, a binary CSP with components (X, D, C)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local</a:t>
            </a:r>
            <a:r>
              <a:rPr lang="en"/>
              <a:t> </a:t>
            </a:r>
            <a:r>
              <a:rPr b="1" lang="en"/>
              <a:t>variables</a:t>
            </a:r>
            <a:r>
              <a:rPr lang="en"/>
              <a:t>: queue, a queue of arcs, initially all the arcs in csp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while</a:t>
            </a:r>
            <a:r>
              <a:rPr lang="en"/>
              <a:t> queue is not empty </a:t>
            </a:r>
            <a:r>
              <a:rPr b="1" lang="en"/>
              <a:t>do</a:t>
            </a:r>
            <a:endParaRPr b="1"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(X</a:t>
            </a:r>
            <a:r>
              <a:rPr baseline="-25000" lang="en"/>
              <a:t>i</a:t>
            </a:r>
            <a:r>
              <a:rPr lang="en"/>
              <a:t> , X</a:t>
            </a:r>
            <a:r>
              <a:rPr baseline="-25000" lang="en"/>
              <a:t>j</a:t>
            </a:r>
            <a:r>
              <a:rPr lang="en"/>
              <a:t>) ← REMOVE-FIRST(queue)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REVISE(csp, Xi , Xj) </a:t>
            </a:r>
            <a:r>
              <a:rPr b="1" lang="en"/>
              <a:t>then</a:t>
            </a:r>
            <a:endParaRPr b="1"/>
          </a:p>
          <a:p>
            <a:pPr indent="45720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size of D</a:t>
            </a:r>
            <a:r>
              <a:rPr baseline="-25000" lang="en"/>
              <a:t>i</a:t>
            </a:r>
            <a:r>
              <a:rPr lang="en"/>
              <a:t> = 0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false</a:t>
            </a:r>
            <a:endParaRPr/>
          </a:p>
          <a:p>
            <a:pPr indent="0" lvl="0" marL="13716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for</a:t>
            </a:r>
            <a:r>
              <a:rPr lang="en"/>
              <a:t> </a:t>
            </a:r>
            <a:r>
              <a:rPr b="1" lang="en"/>
              <a:t>each</a:t>
            </a:r>
            <a:r>
              <a:rPr lang="en"/>
              <a:t> X</a:t>
            </a:r>
            <a:r>
              <a:rPr baseline="-25000" lang="en"/>
              <a:t>k</a:t>
            </a:r>
            <a:r>
              <a:rPr lang="en"/>
              <a:t> in X</a:t>
            </a:r>
            <a:r>
              <a:rPr baseline="-25000" lang="en"/>
              <a:t>i</a:t>
            </a:r>
            <a:r>
              <a:rPr lang="en"/>
              <a:t>.NEIGHBORS - {X</a:t>
            </a:r>
            <a:r>
              <a:rPr baseline="-25000" lang="en"/>
              <a:t>j</a:t>
            </a:r>
            <a:r>
              <a:rPr lang="en"/>
              <a:t>} </a:t>
            </a:r>
            <a:r>
              <a:rPr b="1" lang="en"/>
              <a:t>do</a:t>
            </a:r>
            <a:endParaRPr b="1"/>
          </a:p>
          <a:p>
            <a:pPr indent="457200" lvl="0" marL="13716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(X</a:t>
            </a:r>
            <a:r>
              <a:rPr baseline="-25000" lang="en"/>
              <a:t>k</a:t>
            </a:r>
            <a:r>
              <a:rPr lang="en"/>
              <a:t> , X</a:t>
            </a:r>
            <a:r>
              <a:rPr baseline="-25000" lang="en"/>
              <a:t>i</a:t>
            </a:r>
            <a:r>
              <a:rPr lang="en"/>
              <a:t>) to queue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return</a:t>
            </a:r>
            <a:r>
              <a:rPr lang="en"/>
              <a:t> true</a:t>
            </a:r>
            <a:endParaRPr/>
          </a:p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AC-3 algorithm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REVISE(csp, X</a:t>
            </a:r>
            <a:r>
              <a:rPr baseline="-25000" lang="en"/>
              <a:t>i</a:t>
            </a:r>
            <a:r>
              <a:rPr lang="en"/>
              <a:t> , X</a:t>
            </a:r>
            <a:r>
              <a:rPr baseline="-25000" lang="en"/>
              <a:t>j</a:t>
            </a:r>
            <a:r>
              <a:rPr lang="en"/>
              <a:t>)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returns</a:t>
            </a:r>
            <a:r>
              <a:rPr lang="en"/>
              <a:t> true iff we revise the domain of Xi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revised ← false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for</a:t>
            </a:r>
            <a:r>
              <a:rPr lang="en"/>
              <a:t> </a:t>
            </a:r>
            <a:r>
              <a:rPr b="1" lang="en"/>
              <a:t>each</a:t>
            </a:r>
            <a:r>
              <a:rPr lang="en"/>
              <a:t> x in D</a:t>
            </a:r>
            <a:r>
              <a:rPr baseline="-25000" lang="en"/>
              <a:t>i</a:t>
            </a:r>
            <a:r>
              <a:rPr lang="en"/>
              <a:t> </a:t>
            </a:r>
            <a:r>
              <a:rPr b="1" lang="en"/>
              <a:t>do</a:t>
            </a:r>
            <a:endParaRPr b="1"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no value y in D</a:t>
            </a:r>
            <a:r>
              <a:rPr baseline="-25000" lang="en"/>
              <a:t>j</a:t>
            </a:r>
            <a:r>
              <a:rPr lang="en"/>
              <a:t> allows (x ,y) to satisfy the constraint between X</a:t>
            </a:r>
            <a:r>
              <a:rPr baseline="-25000" lang="en"/>
              <a:t>i</a:t>
            </a:r>
            <a:r>
              <a:rPr lang="en"/>
              <a:t> and X</a:t>
            </a:r>
            <a:r>
              <a:rPr baseline="-25000" lang="en"/>
              <a:t>j</a:t>
            </a:r>
            <a:r>
              <a:rPr lang="en"/>
              <a:t> </a:t>
            </a:r>
            <a:r>
              <a:rPr b="1" lang="en"/>
              <a:t>then</a:t>
            </a:r>
            <a:endParaRPr b="1"/>
          </a:p>
          <a:p>
            <a:pPr indent="45720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delete x from D</a:t>
            </a:r>
            <a:r>
              <a:rPr baseline="-25000" lang="en"/>
              <a:t>i</a:t>
            </a:r>
            <a:endParaRPr/>
          </a:p>
          <a:p>
            <a:pPr indent="45720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revised ← true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revised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6868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worst-case complexity is 𝑂(𝑐𝑑</a:t>
            </a:r>
            <a:r>
              <a:rPr baseline="30000" lang="en"/>
              <a:t>3</a:t>
            </a:r>
            <a:r>
              <a:rPr lang="en"/>
              <a:t>)</a:t>
            </a:r>
            <a:endParaRPr/>
          </a:p>
          <a:p>
            <a:pPr indent="-336868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𝑛: number of variables, each has domain size 𝑑, 𝑐 binary constraints (arc)</a:t>
            </a:r>
            <a:endParaRPr/>
          </a:p>
        </p:txBody>
      </p:sp>
      <p:sp>
        <p:nvSpPr>
          <p:cNvPr id="206" name="Google Shape;206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Backtracking Search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States are defined by the values assigned so far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Initial state: empty assignment { }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Successor function: assign a value to an unassigned variable that agrees with the current assignment 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fail if no legal assignments</a:t>
            </a:r>
            <a:endParaRPr/>
          </a:p>
          <a:p>
            <a:pPr indent="-368300" lvl="1" marL="914400" rtl="0" algn="just">
              <a:spcBef>
                <a:spcPts val="12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Goal test: the current assignment is complete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Depth-first search: choose values for one variable at a time and backtrack when a variable has no legal values left</a:t>
            </a:r>
            <a:endParaRPr/>
          </a:p>
        </p:txBody>
      </p:sp>
      <p:sp>
        <p:nvSpPr>
          <p:cNvPr id="213" name="Google Shape;213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Backtracking Search</a:t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BACKTRACKING-SEARCH(csp) </a:t>
            </a:r>
            <a:r>
              <a:rPr b="1" lang="en"/>
              <a:t>returns</a:t>
            </a:r>
            <a:r>
              <a:rPr lang="en"/>
              <a:t> a solution, or failure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BACKTRACK({ }, csp)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BACKTRACK(assignment, csp) </a:t>
            </a:r>
            <a:r>
              <a:rPr b="1" lang="en"/>
              <a:t>returns</a:t>
            </a:r>
            <a:r>
              <a:rPr lang="en"/>
              <a:t> a solution, or failure </a:t>
            </a:r>
            <a:endParaRPr/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assignment is complete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assignment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var ← </a:t>
            </a:r>
            <a:r>
              <a:rPr b="1" lang="en">
                <a:solidFill>
                  <a:srgbClr val="FF0000"/>
                </a:solidFill>
              </a:rPr>
              <a:t>SELECT-UNASSIGNED-VARIABLE</a:t>
            </a:r>
            <a:r>
              <a:rPr lang="en"/>
              <a:t>(csp)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for</a:t>
            </a:r>
            <a:r>
              <a:rPr lang="en"/>
              <a:t> </a:t>
            </a:r>
            <a:r>
              <a:rPr b="1" lang="en"/>
              <a:t>each</a:t>
            </a:r>
            <a:r>
              <a:rPr lang="en"/>
              <a:t> value </a:t>
            </a:r>
            <a:r>
              <a:rPr b="1" lang="en"/>
              <a:t>in</a:t>
            </a:r>
            <a:r>
              <a:rPr lang="en"/>
              <a:t> </a:t>
            </a:r>
            <a:r>
              <a:rPr b="1" lang="en">
                <a:solidFill>
                  <a:srgbClr val="FF0000"/>
                </a:solidFill>
              </a:rPr>
              <a:t>ORDER-DOMAIN-VALUES</a:t>
            </a:r>
            <a:r>
              <a:rPr lang="en"/>
              <a:t>(var, assignment, csp) </a:t>
            </a:r>
            <a:r>
              <a:rPr b="1" lang="en"/>
              <a:t>do</a:t>
            </a:r>
            <a:endParaRPr b="1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if</a:t>
            </a:r>
            <a:r>
              <a:rPr lang="en"/>
              <a:t> value is consistent with assignment </a:t>
            </a:r>
            <a:r>
              <a:rPr b="1" lang="en"/>
              <a:t>then</a:t>
            </a:r>
            <a:r>
              <a:rPr lang="en"/>
              <a:t> </a:t>
            </a:r>
            <a:endParaRPr/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{var = value} to assignment</a:t>
            </a:r>
            <a:endParaRPr/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inferences ← </a:t>
            </a:r>
            <a:r>
              <a:rPr b="1" lang="en">
                <a:solidFill>
                  <a:srgbClr val="FF0000"/>
                </a:solidFill>
              </a:rPr>
              <a:t>INFERENCE</a:t>
            </a:r>
            <a:r>
              <a:rPr lang="en"/>
              <a:t>(csp, var, value)</a:t>
            </a:r>
            <a:endParaRPr/>
          </a:p>
          <a:p>
            <a:pPr indent="4572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 </a:t>
            </a:r>
            <a:r>
              <a:rPr b="1" lang="en"/>
              <a:t>if</a:t>
            </a:r>
            <a:r>
              <a:rPr lang="en"/>
              <a:t> inferences !=  failure </a:t>
            </a:r>
            <a:r>
              <a:rPr b="1" lang="en"/>
              <a:t>then</a:t>
            </a:r>
            <a:endParaRPr b="1"/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add inferences to assignment</a:t>
            </a:r>
            <a:endParaRPr/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← BACKTRACK(assignment, csp) </a:t>
            </a:r>
            <a:endParaRPr/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result != failure </a:t>
            </a:r>
            <a:r>
              <a:rPr b="1" lang="en"/>
              <a:t>then</a:t>
            </a:r>
            <a:endParaRPr b="1"/>
          </a:p>
          <a:p>
            <a:pPr indent="45720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return</a:t>
            </a:r>
            <a:r>
              <a:rPr lang="en"/>
              <a:t> result</a:t>
            </a:r>
            <a:endParaRPr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remove {var = value} and inferences from assignment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</a:t>
            </a:r>
            <a:r>
              <a:rPr lang="en"/>
              <a:t> failure</a:t>
            </a:r>
            <a:endParaRPr/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Backtracking Search</a:t>
            </a:r>
            <a:endParaRPr/>
          </a:p>
        </p:txBody>
      </p:sp>
      <p:sp>
        <p:nvSpPr>
          <p:cNvPr id="226" name="Google Shape;226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 rotWithShape="1">
          <a:blip r:embed="rId3">
            <a:alphaModFix/>
          </a:blip>
          <a:srcRect b="0" l="2009" r="0" t="2286"/>
          <a:stretch/>
        </p:blipFill>
        <p:spPr>
          <a:xfrm>
            <a:off x="831600" y="1574075"/>
            <a:ext cx="7640849" cy="50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and value ordering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Minimum-remaining-values (MRV) heuristic: choose the variable with the fewest legal values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after [𝑊𝐴 = 𝑟𝑒𝑑, 𝑁𝑇 = 𝑔𝑟𝑒𝑒𝑛] only one possible value for 𝑆𝐴</a:t>
            </a:r>
            <a:endParaRPr/>
          </a:p>
        </p:txBody>
      </p:sp>
      <p:sp>
        <p:nvSpPr>
          <p:cNvPr id="235" name="Google Shape;235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36" name="Google Shape;2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813" y="3428998"/>
            <a:ext cx="7318375" cy="14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and value ordering</a:t>
            </a:r>
            <a:endParaRPr/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Degree heuristic (DH): choose the variable that involves in the largest number of constraints on other unassigned variables.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𝑆𝐴 has a highest degree of 5</a:t>
            </a:r>
            <a:endParaRPr/>
          </a:p>
        </p:txBody>
      </p:sp>
      <p:sp>
        <p:nvSpPr>
          <p:cNvPr id="243" name="Google Shape;243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44" name="Google Shape;2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563" y="3149050"/>
            <a:ext cx="7520875" cy="13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and value ordering</a:t>
            </a:r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Least constraining value (LCV) heuristic: given a variable, choose the value that leaves the maximum flexibility for subsequent variable assignments</a:t>
            </a:r>
            <a:endParaRPr/>
          </a:p>
        </p:txBody>
      </p:sp>
      <p:sp>
        <p:nvSpPr>
          <p:cNvPr id="251" name="Google Shape;251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52" name="Google Shape;2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538" y="2903375"/>
            <a:ext cx="8656924" cy="211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Inference: Forward checking</a:t>
            </a:r>
            <a:endParaRPr/>
          </a:p>
        </p:txBody>
      </p:sp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Keep track of remaining legal values for unassigned variables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Terminate search when any variable has no legal values</a:t>
            </a:r>
            <a:endParaRPr/>
          </a:p>
        </p:txBody>
      </p:sp>
      <p:sp>
        <p:nvSpPr>
          <p:cNvPr id="259" name="Google Shape;259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  <p:pic>
        <p:nvPicPr>
          <p:cNvPr id="260" name="Google Shape;26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25" y="2773775"/>
            <a:ext cx="74009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for CSPs</a:t>
            </a:r>
            <a:endParaRPr/>
          </a:p>
        </p:txBody>
      </p:sp>
      <p:sp>
        <p:nvSpPr>
          <p:cNvPr id="266" name="Google Shape;266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Complete-state formulation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initial state assigns a value to every variable → violation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The search changes the value of one variable at a time → eliminate the violated constraints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Min-conflicts heuristic: the minimum number of conflicts with other variables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Min-conflicts is surprisingly effective for many CSPs.</a:t>
            </a:r>
            <a:endParaRPr/>
          </a:p>
        </p:txBody>
      </p:sp>
      <p:sp>
        <p:nvSpPr>
          <p:cNvPr id="267" name="Google Shape;267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MIN-CONFLICTS algorithm</a:t>
            </a:r>
            <a:endParaRPr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function</a:t>
            </a:r>
            <a:r>
              <a:rPr lang="en"/>
              <a:t> MIN-CONFLICTS(csp, max steps) </a:t>
            </a:r>
            <a:r>
              <a:rPr b="1" lang="en"/>
              <a:t>returns</a:t>
            </a:r>
            <a:r>
              <a:rPr lang="en"/>
              <a:t> a solution or failure 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inputs</a:t>
            </a:r>
            <a:r>
              <a:rPr lang="en"/>
              <a:t>: 	csp, a constraint satisfaction problem</a:t>
            </a:r>
            <a:endParaRPr/>
          </a:p>
          <a:p>
            <a:pPr indent="45720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max steps, the number of steps allowed before giving up </a:t>
            </a:r>
            <a:endParaRPr/>
          </a:p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current ← an initial complete assignment for csp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for</a:t>
            </a:r>
            <a:r>
              <a:rPr lang="en"/>
              <a:t> i = 1 </a:t>
            </a:r>
            <a:r>
              <a:rPr b="1" lang="en"/>
              <a:t>to</a:t>
            </a:r>
            <a:r>
              <a:rPr lang="en"/>
              <a:t> max steps </a:t>
            </a:r>
            <a:r>
              <a:rPr b="1" lang="en"/>
              <a:t>do</a:t>
            </a:r>
            <a:endParaRPr b="1"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/>
              <a:t>if</a:t>
            </a:r>
            <a:r>
              <a:rPr lang="en"/>
              <a:t> current is a solution for csp </a:t>
            </a:r>
            <a:r>
              <a:rPr b="1" lang="en"/>
              <a:t>then</a:t>
            </a:r>
            <a:r>
              <a:rPr lang="en"/>
              <a:t> </a:t>
            </a:r>
            <a:r>
              <a:rPr b="1" lang="en"/>
              <a:t>return</a:t>
            </a:r>
            <a:r>
              <a:rPr lang="en"/>
              <a:t> current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var ← a randomly chosen conflicted variable from csp.VARIABLES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value ← the value v for var that minimizes CONFLICTS(var, v, current, csp)</a:t>
            </a:r>
            <a:endParaRPr/>
          </a:p>
          <a:p>
            <a:pPr indent="0" lvl="0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en"/>
              <a:t>set var = value in current</a:t>
            </a:r>
            <a:endParaRPr/>
          </a:p>
          <a:p>
            <a:pPr indent="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return failure</a:t>
            </a:r>
            <a:endParaRPr/>
          </a:p>
        </p:txBody>
      </p:sp>
      <p:sp>
        <p:nvSpPr>
          <p:cNvPr id="274" name="Google Shape;274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search for CSPs</a:t>
            </a:r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landscape of a CSP under the min-conflicts heuristic usually has a series of plateaux.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Plateau search: allow sideways moves to another state with the same score.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Tabu search: keep a small list of recently visited states and forbid the algorithm to return to those states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Simulated annealing can also be used.</a:t>
            </a:r>
            <a:endParaRPr/>
          </a:p>
        </p:txBody>
      </p:sp>
      <p:sp>
        <p:nvSpPr>
          <p:cNvPr id="281" name="Google Shape;281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 weighting</a:t>
            </a:r>
            <a:endParaRPr/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Concentrate the search on the important constraints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Each constraint is given a numeric weight, 𝑊 , initially all 1.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At each step, choose a variable/value pair to change that has the lowest total weight of all violated constraints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Increase the weight of each constraint that is violated by the current assignment.</a:t>
            </a:r>
            <a:endParaRPr/>
          </a:p>
        </p:txBody>
      </p:sp>
      <p:sp>
        <p:nvSpPr>
          <p:cNvPr id="288" name="Google Shape;288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Conduct homework in the given </a:t>
            </a:r>
            <a:r>
              <a:rPr lang="en" u="sng">
                <a:solidFill>
                  <a:schemeClr val="hlink"/>
                </a:solidFill>
                <a:hlinkClick r:id="rId3"/>
              </a:rPr>
              <a:t>notebook</a:t>
            </a:r>
            <a:endParaRPr/>
          </a:p>
        </p:txBody>
      </p:sp>
      <p:sp>
        <p:nvSpPr>
          <p:cNvPr id="295" name="Google Shape;295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1325275" y="593375"/>
            <a:ext cx="75069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01" name="Google Shape;301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Stuart Russell and Peter Norvig. 2009. Artificial Intelligence: A Modern Approach (3rd ed.). Prentice Hall Press, Upper Saddle River, NJ, USA.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Lê Hoài Bắc, Tô Hoài Việt. 2014. Giáo trình Cơ sở Trí tuệ nhân tạo. Khoa Công nghệ Thông tin. Trường ĐH Khoa học Tự nhiên, ĐHQG-HCM.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Nguyễn Ngọc Thảo, Nguyễn Hải Minh. 2020. Bài giảng Cơ sở Trí tuệ Nhân tạo. </a:t>
            </a:r>
            <a:r>
              <a:rPr lang="en"/>
              <a:t>Khoa Công nghệ Thông tin. Trường ĐH Khoa học Tự nhiên, ĐHQG-HCM.</a:t>
            </a:r>
            <a:endParaRPr/>
          </a:p>
        </p:txBody>
      </p:sp>
      <p:sp>
        <p:nvSpPr>
          <p:cNvPr id="302" name="Google Shape;302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9E9E9E"/>
                </a:solidFill>
              </a:rPr>
              <a:t>‹#›</a:t>
            </a:fld>
            <a:endParaRPr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