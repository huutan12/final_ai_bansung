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370FA4-2F27-4A67-ABB1-0E72230B6AC5}">
  <a:tblStyle styleId="{08370FA4-2F27-4A67-ABB1-0E72230B6A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159c6f08f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159c6f08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159c6f08f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159c6f08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c159c6f08f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c159c6f08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159c6f08f_0_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159c6f08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159c6f08f_0_6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159c6f08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159c6f08f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c159c6f08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c159c6f08f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c159c6f08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159c6f08f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c159c6f08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159c6f08f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159c6f08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159c6f08f_0_10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159c6f08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159c6f08f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c159c6f08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159c6f08f_0_1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c159c6f08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159c6f08f_0_1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c159c6f08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c159c6f08f_0_1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c159c6f08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159c6f08f_0_1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c159c6f08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ea1bd6277_1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ea1bd6277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ea1bd6277_1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ea1bd6277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a1bd6277_1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ea1bd627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ea1bd6277_1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ea1bd6277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a1bd6277_1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a1bd6277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c159c6f08f_0_1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c159c6f08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c159c6f08f_0_1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c159c6f08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c159c6f08f_0_1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c159c6f08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c159c6f08f_0_1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c159c6f08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c159c6f08f_0_1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c159c6f08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c159c6f08f_0_2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c159c6f08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c159c6f08f_0_2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c159c6f08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c159c6f08f_0_2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c159c6f08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c159c6f08f_0_2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c159c6f08f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c159c6f08f_0_2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c159c6f08f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c159c6f08f_0_2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c159c6f08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404414262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4044142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2: Problem solving by searching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colab.research.google.com/drive/1YwDmgOBzdoTQk6gUuAsQdfK8l2lxmJH4?usp=sharing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7: Adversarial Search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Games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Optimal Decisions in Games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α-β Pruning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Imperfect, Real-time Decisions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Stochastic Games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ultiagent environments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24"/>
            <a:ext cx="8520600" cy="51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agent needs to consider the actions of other agents and how they affect its own welfare.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unpredictability of other agents introduce contingencies into the agent’s problem-solving process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Game theory views any </a:t>
            </a:r>
            <a:r>
              <a:rPr lang="en"/>
              <a:t>multiagent</a:t>
            </a:r>
            <a:r>
              <a:rPr lang="en"/>
              <a:t> environment as a game.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impact of each agent on the others is “significant,” regardless of whether the agents are cooperative or competitive.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Types of games: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Perfect information vs Imperfect information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Deterministic vs Chance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/>
              <a:t>A sequential game has perfect information if each player, when making any decision, is perfectly informed of all the events that have previously occurred, including the "initialization event" of the game.</a:t>
            </a:r>
            <a:endParaRPr i="1" sz="1200"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game</a:t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42900"/>
            <a:ext cx="3389849" cy="25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2750" y="4181075"/>
            <a:ext cx="2641924" cy="24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7575" y="4190420"/>
            <a:ext cx="2367925" cy="24073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6"/>
          <p:cNvGraphicFramePr/>
          <p:nvPr/>
        </p:nvGraphicFramePr>
        <p:xfrm>
          <a:off x="311725" y="188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{08370FA4-2F27-4A67-ABB1-0E72230B6AC5}</a:tableStyleId>
              </a:tblPr>
              <a:tblGrid>
                <a:gridCol w="2126650"/>
                <a:gridCol w="3155950"/>
                <a:gridCol w="31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Deterministic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Chance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72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Perfect information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Chess, Checkers, Go, Othello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Backgammon, Monopoly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/>
                        <a:t>Imperfect information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Bridge, poker, scrabble nuclear war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search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Adversarial search (known as games) covers competitive environments in which the agents’ goals are in conflict.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Zero-sum games of perfect information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Deterministic, fully observable environments, turn-taking, two-player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utility values at the end are always equal and opposite.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assumptions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Two players only, called MAX and MIN.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MAX moves first, and then they take turns moving until the game ends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Winner gets reward, loser gets penalty.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Both players have complete knowledge of the game’s state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 element of chance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Zero-sum games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total payoff to all players is the same for every game instance.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Rational players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Each player always tries to maximize his/her utility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 as search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𝑆</a:t>
            </a:r>
            <a:r>
              <a:rPr baseline="-25000" lang="en"/>
              <a:t>0</a:t>
            </a:r>
            <a:r>
              <a:rPr lang="en"/>
              <a:t> – Initial state: How the game is set up at the start 0.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𝑃𝐿𝐴𝑌𝐸𝑅(𝑠): Which player has the move in a state, MAX/MIN?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𝐴𝐶𝑇𝐼𝑂𝑁𝑆(𝑠) – Successor function: A list of (move, state) pairs specifying legal moves.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𝑅𝐸𝑆𝑈𝐿𝑇(𝑠, 𝑎) – Transition model: Result of move 𝑎 on state 𝑠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𝑇𝐸𝑅𝑀𝐼𝑁𝐴𝐿 − 𝑇𝐸𝑆𝑇(𝑠): Is the game finished?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𝑈𝑇𝐼𝐿𝐼𝑇𝑌(𝑠,𝑝) – Utility function: A numerical value of a terminal state 𝑠 for a player 𝑝</a:t>
            </a:r>
            <a:endParaRPr/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 vs. Search problems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Complexity: games are too hard to be solved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Time limits: make some decision even when calculating the optimal decision is infeasible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Efficiency: penalize inefficiency severely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Several interesting ideas on how to make the best possible use of time are spawn.</a:t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Tree of Tic-Tac-Toe</a:t>
            </a:r>
            <a:endParaRPr/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587" y="1601025"/>
            <a:ext cx="7218826" cy="506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decision in games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536624"/>
            <a:ext cx="8520600" cy="51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Normal search problem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 solution is a sequence of action leading to a goal state.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Games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 search path that guarantee win for a player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optimal strategy can be determined from the minimax value of each node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MINIMAX(s) =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UTILITY(s)									if TERMINAL-TEST(s)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max</a:t>
            </a:r>
            <a:r>
              <a:rPr baseline="-25000" lang="en"/>
              <a:t>a</a:t>
            </a:r>
            <a:r>
              <a:rPr baseline="-25000" lang="en" sz="2400">
                <a:solidFill>
                  <a:srgbClr val="202124"/>
                </a:solidFill>
                <a:highlight>
                  <a:srgbClr val="FFFFFF"/>
                </a:highlight>
              </a:rPr>
              <a:t>∈</a:t>
            </a:r>
            <a:r>
              <a:rPr baseline="-25000" lang="en"/>
              <a:t>Actions(s)</a:t>
            </a:r>
            <a:r>
              <a:rPr lang="en"/>
              <a:t>MINIMAX(RESULT(s, a)) 	if PLAYER(s) = MAX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min</a:t>
            </a:r>
            <a:r>
              <a:rPr baseline="-25000" lang="en"/>
              <a:t>a</a:t>
            </a:r>
            <a:r>
              <a:rPr baseline="-25000" lang="en" sz="2400">
                <a:solidFill>
                  <a:srgbClr val="202124"/>
                </a:solidFill>
                <a:highlight>
                  <a:srgbClr val="FFFFFF"/>
                </a:highlight>
              </a:rPr>
              <a:t>∈</a:t>
            </a:r>
            <a:r>
              <a:rPr baseline="-25000" lang="en"/>
              <a:t>Actions(s)</a:t>
            </a:r>
            <a:r>
              <a:rPr lang="en"/>
              <a:t>MINIMAX(RESULT(s, a)) 		if PLAYER(s) = MIN</a:t>
            </a:r>
            <a:endParaRPr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380375" y="4799475"/>
            <a:ext cx="313200" cy="1588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3042"/>
            <a:ext cx="9144001" cy="418691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2472475" y="2293450"/>
            <a:ext cx="18237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MAX best move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443300" y="3933800"/>
            <a:ext cx="18237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MIN</a:t>
            </a:r>
            <a:r>
              <a:rPr lang="en" sz="1800">
                <a:solidFill>
                  <a:srgbClr val="FF0000"/>
                </a:solidFill>
              </a:rPr>
              <a:t> best move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3826150" y="5979950"/>
            <a:ext cx="26739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Utility values for MAX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minimax algorithm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Compute the minimax decision from the current state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Use a simple recursive computation of the minimax values of each successor state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recursion proceeds all the way down to the leaves of the tree, and then the minimax values are backed up through the tree as the recursion unwinds.</a:t>
            </a:r>
            <a:endParaRPr/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minimax algorithm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536624"/>
            <a:ext cx="8520600" cy="50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MINIMAX-DECISION(state) </a:t>
            </a:r>
            <a:r>
              <a:rPr b="1" lang="en"/>
              <a:t>returns</a:t>
            </a:r>
            <a:r>
              <a:rPr lang="en"/>
              <a:t> an action 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argmax</a:t>
            </a:r>
            <a:r>
              <a:rPr baseline="-25000" lang="en"/>
              <a:t>a ∈ ACTIONS(s)</a:t>
            </a:r>
            <a:r>
              <a:rPr lang="en"/>
              <a:t>MIN-VALUE(RESULT(state, a))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function</a:t>
            </a:r>
            <a:r>
              <a:rPr lang="en"/>
              <a:t> MAX-VALUE(state) </a:t>
            </a:r>
            <a:r>
              <a:rPr b="1" lang="en"/>
              <a:t>returns</a:t>
            </a:r>
            <a:r>
              <a:rPr lang="en"/>
              <a:t> a utility value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TERMINAL-TEST(state)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UTILITY(state)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v ← -∞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for</a:t>
            </a:r>
            <a:r>
              <a:rPr lang="en"/>
              <a:t> </a:t>
            </a:r>
            <a:r>
              <a:rPr b="1" lang="en"/>
              <a:t>each</a:t>
            </a:r>
            <a:r>
              <a:rPr lang="en"/>
              <a:t> a </a:t>
            </a:r>
            <a:r>
              <a:rPr b="1" lang="en"/>
              <a:t>in</a:t>
            </a:r>
            <a:r>
              <a:rPr lang="en"/>
              <a:t> ACTIONS(state) </a:t>
            </a:r>
            <a:r>
              <a:rPr b="1" lang="en"/>
              <a:t>do</a:t>
            </a:r>
            <a:endParaRPr b="1"/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 ← MAX(v, MIN-VALUE(RESULT(s, a)))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v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function</a:t>
            </a:r>
            <a:r>
              <a:rPr lang="en"/>
              <a:t> MIN-VALUE(state) </a:t>
            </a:r>
            <a:r>
              <a:rPr b="1" lang="en"/>
              <a:t>returns</a:t>
            </a:r>
            <a:r>
              <a:rPr lang="en"/>
              <a:t> a utility value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TERMINAL-TEST(state)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UTILITY(state)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v←∞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for</a:t>
            </a:r>
            <a:r>
              <a:rPr lang="en"/>
              <a:t> </a:t>
            </a:r>
            <a:r>
              <a:rPr b="1" lang="en"/>
              <a:t>each</a:t>
            </a:r>
            <a:r>
              <a:rPr lang="en"/>
              <a:t> a </a:t>
            </a:r>
            <a:r>
              <a:rPr b="1" lang="en"/>
              <a:t>in</a:t>
            </a:r>
            <a:r>
              <a:rPr lang="en"/>
              <a:t> ACTIONS(state) </a:t>
            </a:r>
            <a:r>
              <a:rPr b="1" lang="en"/>
              <a:t>do</a:t>
            </a:r>
            <a:endParaRPr b="1"/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 ← MIN(v, MAX-VALUE(RESULT(s, a)))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v</a:t>
            </a:r>
            <a:endParaRPr/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minimax algorithm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complete depth-first exploration of the game tree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Completeness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Yes (if tree is finite)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Optimality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Yes (against an optimal opponent)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Time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𝑂(𝑏</a:t>
            </a:r>
            <a:r>
              <a:rPr baseline="30000" lang="en"/>
              <a:t>𝑚</a:t>
            </a:r>
            <a:r>
              <a:rPr lang="en"/>
              <a:t>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Space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𝑂(𝑏𝑚) (depth-first exploration)</a:t>
            </a:r>
            <a:endParaRPr/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minimax algorithm</a:t>
            </a:r>
            <a:endParaRPr/>
          </a:p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46450"/>
            <a:ext cx="9144001" cy="3881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with minimax search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number of game states is exponential in the tree’s depth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Do not examine every node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Alpha-beta pruning: Prune away branches that cannot possibly influence the final decision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Bounded lookahead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Limit depth for each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This is what chess players do: look ahead for a few moves and see what looks best</a:t>
            </a:r>
            <a:endParaRPr/>
          </a:p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67309" l="0" r="48673" t="0"/>
          <a:stretch/>
        </p:blipFill>
        <p:spPr>
          <a:xfrm>
            <a:off x="641413" y="1868925"/>
            <a:ext cx="7861175" cy="3758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88" name="Google Shape;188;p30"/>
          <p:cNvPicPr preferRelativeResize="0"/>
          <p:nvPr/>
        </p:nvPicPr>
        <p:blipFill rotWithShape="1">
          <a:blip r:embed="rId3">
            <a:alphaModFix/>
          </a:blip>
          <a:srcRect b="67309" l="50608" r="-1935" t="0"/>
          <a:stretch/>
        </p:blipFill>
        <p:spPr>
          <a:xfrm>
            <a:off x="641413" y="1868925"/>
            <a:ext cx="7861175" cy="3758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95" name="Google Shape;195;p31"/>
          <p:cNvPicPr preferRelativeResize="0"/>
          <p:nvPr/>
        </p:nvPicPr>
        <p:blipFill rotWithShape="1">
          <a:blip r:embed="rId3">
            <a:alphaModFix/>
          </a:blip>
          <a:srcRect b="32937" l="0" r="48673" t="34372"/>
          <a:stretch/>
        </p:blipFill>
        <p:spPr>
          <a:xfrm>
            <a:off x="641413" y="1884064"/>
            <a:ext cx="7861175" cy="3758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02" name="Google Shape;202;p32"/>
          <p:cNvPicPr preferRelativeResize="0"/>
          <p:nvPr/>
        </p:nvPicPr>
        <p:blipFill rotWithShape="1">
          <a:blip r:embed="rId3">
            <a:alphaModFix/>
          </a:blip>
          <a:srcRect b="32067" l="50413" r="-1740" t="35241"/>
          <a:stretch/>
        </p:blipFill>
        <p:spPr>
          <a:xfrm>
            <a:off x="641413" y="1868925"/>
            <a:ext cx="7861175" cy="3758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09" name="Google Shape;209;p33"/>
          <p:cNvPicPr preferRelativeResize="0"/>
          <p:nvPr/>
        </p:nvPicPr>
        <p:blipFill rotWithShape="1">
          <a:blip r:embed="rId3">
            <a:alphaModFix/>
          </a:blip>
          <a:srcRect b="-1579" l="-493" r="49166" t="68888"/>
          <a:stretch/>
        </p:blipFill>
        <p:spPr>
          <a:xfrm>
            <a:off x="641413" y="1868925"/>
            <a:ext cx="7861175" cy="3758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16" name="Google Shape;216;p34"/>
          <p:cNvPicPr preferRelativeResize="0"/>
          <p:nvPr/>
        </p:nvPicPr>
        <p:blipFill rotWithShape="1">
          <a:blip r:embed="rId3">
            <a:alphaModFix/>
          </a:blip>
          <a:srcRect b="-2354" l="50649" r="-1976" t="69662"/>
          <a:stretch/>
        </p:blipFill>
        <p:spPr>
          <a:xfrm>
            <a:off x="641413" y="1868925"/>
            <a:ext cx="7861175" cy="3758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222" name="Google Shape;222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224" y="1609425"/>
            <a:ext cx="5699575" cy="28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088" y="4535434"/>
            <a:ext cx="8893824" cy="182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311700" y="1536624"/>
            <a:ext cx="8520600" cy="51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function</a:t>
            </a:r>
            <a:r>
              <a:rPr lang="en" sz="1900"/>
              <a:t> ALPHA-BETA-SEARCH(state) </a:t>
            </a:r>
            <a:r>
              <a:rPr b="1" lang="en" sz="1900"/>
              <a:t>returns</a:t>
            </a:r>
            <a:r>
              <a:rPr lang="en" sz="1900"/>
              <a:t> an action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v ← MAX-VALUE(state,-∞,+∞)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return</a:t>
            </a:r>
            <a:r>
              <a:rPr lang="en" sz="1900"/>
              <a:t> the action in ACTIONS(state) with value v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function</a:t>
            </a:r>
            <a:r>
              <a:rPr lang="en" sz="1900"/>
              <a:t> MAX-VALUE(state,α,β) </a:t>
            </a:r>
            <a:r>
              <a:rPr b="1" lang="en" sz="1900"/>
              <a:t>returns</a:t>
            </a:r>
            <a:r>
              <a:rPr lang="en" sz="1900"/>
              <a:t> a utility value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if</a:t>
            </a:r>
            <a:r>
              <a:rPr lang="en" sz="1900"/>
              <a:t> TERMINAL-TEST(state) </a:t>
            </a:r>
            <a:r>
              <a:rPr b="1" lang="en" sz="1900"/>
              <a:t>then</a:t>
            </a:r>
            <a:r>
              <a:rPr lang="en" sz="1900"/>
              <a:t> </a:t>
            </a:r>
            <a:r>
              <a:rPr b="1" lang="en" sz="1900"/>
              <a:t>return</a:t>
            </a:r>
            <a:r>
              <a:rPr lang="en" sz="1900"/>
              <a:t> UTILITY(state)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v ← -∞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for</a:t>
            </a:r>
            <a:r>
              <a:rPr lang="en" sz="1900"/>
              <a:t> </a:t>
            </a:r>
            <a:r>
              <a:rPr b="1" lang="en" sz="1900"/>
              <a:t>each</a:t>
            </a:r>
            <a:r>
              <a:rPr lang="en" sz="1900"/>
              <a:t> a </a:t>
            </a:r>
            <a:r>
              <a:rPr b="1" lang="en" sz="1900"/>
              <a:t>in</a:t>
            </a:r>
            <a:r>
              <a:rPr lang="en" sz="1900"/>
              <a:t> ACTIONS(state) </a:t>
            </a:r>
            <a:r>
              <a:rPr b="1" lang="en" sz="1900"/>
              <a:t>do</a:t>
            </a:r>
            <a:endParaRPr b="1" sz="1900"/>
          </a:p>
          <a:p>
            <a:pPr indent="4572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v ← MAX(v, MIN-VALUE(RESULT(s,a),α,β))</a:t>
            </a:r>
            <a:endParaRPr sz="1900"/>
          </a:p>
          <a:p>
            <a:pPr indent="4572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if</a:t>
            </a:r>
            <a:r>
              <a:rPr lang="en" sz="1900"/>
              <a:t> v ≥ β </a:t>
            </a:r>
            <a:r>
              <a:rPr b="1" lang="en" sz="1900"/>
              <a:t>then</a:t>
            </a:r>
            <a:r>
              <a:rPr lang="en" sz="1900"/>
              <a:t> </a:t>
            </a:r>
            <a:r>
              <a:rPr b="1" lang="en" sz="1900"/>
              <a:t>return</a:t>
            </a:r>
            <a:r>
              <a:rPr lang="en" sz="1900"/>
              <a:t> v</a:t>
            </a:r>
            <a:endParaRPr sz="1900"/>
          </a:p>
          <a:p>
            <a:pPr indent="4572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α ← MAX(α, v)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return</a:t>
            </a:r>
            <a:r>
              <a:rPr lang="en" sz="1900"/>
              <a:t> v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function</a:t>
            </a:r>
            <a:r>
              <a:rPr lang="en" sz="1900"/>
              <a:t> MIN-VALUE(state,α,β) </a:t>
            </a:r>
            <a:r>
              <a:rPr b="1" lang="en" sz="1900"/>
              <a:t>returns</a:t>
            </a:r>
            <a:r>
              <a:rPr lang="en" sz="1900"/>
              <a:t> a utility value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if</a:t>
            </a:r>
            <a:r>
              <a:rPr lang="en" sz="1900"/>
              <a:t> TERMINAL-TEST(state) </a:t>
            </a:r>
            <a:r>
              <a:rPr b="1" lang="en" sz="1900"/>
              <a:t>then</a:t>
            </a:r>
            <a:r>
              <a:rPr lang="en" sz="1900"/>
              <a:t> </a:t>
            </a:r>
            <a:r>
              <a:rPr b="1" lang="en" sz="1900"/>
              <a:t>return</a:t>
            </a:r>
            <a:r>
              <a:rPr lang="en" sz="1900"/>
              <a:t> UTILITY(state)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v ← +∞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for</a:t>
            </a:r>
            <a:r>
              <a:rPr lang="en" sz="1900"/>
              <a:t> </a:t>
            </a:r>
            <a:r>
              <a:rPr b="1" lang="en" sz="1900"/>
              <a:t>each</a:t>
            </a:r>
            <a:r>
              <a:rPr lang="en" sz="1900"/>
              <a:t> a </a:t>
            </a:r>
            <a:r>
              <a:rPr b="1" lang="en" sz="1900"/>
              <a:t>in</a:t>
            </a:r>
            <a:r>
              <a:rPr lang="en" sz="1900"/>
              <a:t> ACTIONS(state) </a:t>
            </a:r>
            <a:r>
              <a:rPr b="1" lang="en" sz="1900"/>
              <a:t>do</a:t>
            </a:r>
            <a:endParaRPr b="1" sz="1900"/>
          </a:p>
          <a:p>
            <a:pPr indent="4572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v ← MIN(v, MAX-VALUE(RESULT(s,a) ,α,β))</a:t>
            </a:r>
            <a:endParaRPr sz="1900"/>
          </a:p>
          <a:p>
            <a:pPr indent="4572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if</a:t>
            </a:r>
            <a:r>
              <a:rPr lang="en" sz="1900"/>
              <a:t> v ≤ α </a:t>
            </a:r>
            <a:r>
              <a:rPr b="1" lang="en" sz="1900"/>
              <a:t>then</a:t>
            </a:r>
            <a:r>
              <a:rPr lang="en" sz="1900"/>
              <a:t> </a:t>
            </a:r>
            <a:r>
              <a:rPr b="1" lang="en" sz="1900"/>
              <a:t>return</a:t>
            </a:r>
            <a:r>
              <a:rPr lang="en" sz="1900"/>
              <a:t> v</a:t>
            </a:r>
            <a:endParaRPr sz="1900"/>
          </a:p>
          <a:p>
            <a:pPr indent="4572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β ← MIN(β, v)</a:t>
            </a:r>
            <a:endParaRPr sz="1900"/>
          </a:p>
          <a:p>
            <a:pPr indent="45720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return</a:t>
            </a:r>
            <a:r>
              <a:rPr lang="en" sz="1900"/>
              <a:t> v</a:t>
            </a:r>
            <a:endParaRPr sz="1900"/>
          </a:p>
        </p:txBody>
      </p:sp>
      <p:sp>
        <p:nvSpPr>
          <p:cNvPr id="231" name="Google Shape;231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lpha-beta pruning</a:t>
            </a:r>
            <a:endParaRPr/>
          </a:p>
        </p:txBody>
      </p:sp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Pruning does not affect the result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Good move ordering improves effectiveness of pruning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Killer move heuristic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Transposition table avoids re-evaluation a state</a:t>
            </a:r>
            <a:endParaRPr/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Alpha-beta pruning</a:t>
            </a:r>
            <a:endParaRPr/>
          </a:p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94050"/>
            <a:ext cx="9144001" cy="378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minimax</a:t>
            </a:r>
            <a:endParaRPr/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536624"/>
            <a:ext cx="8520600" cy="51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Both minimax and alpha-beta pruning search all the way to terminal states.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This depth is usually impractical because moves must be made in a reasonable amount of time (~ minutes).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Cut off the search earlier with some depth limit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Use an evaluation function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H-MINIMAX(s, d) =</a:t>
            </a:r>
            <a:endParaRPr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	EVAL(s) 											if CUTOFF-TEST(s, d)</a:t>
            </a:r>
            <a:endParaRPr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	max</a:t>
            </a:r>
            <a:r>
              <a:rPr baseline="-25000" lang="en" sz="1800"/>
              <a:t>a</a:t>
            </a:r>
            <a:r>
              <a:rPr baseline="-25000" lang="en" sz="2000">
                <a:solidFill>
                  <a:srgbClr val="202124"/>
                </a:solidFill>
                <a:highlight>
                  <a:srgbClr val="FFFFFF"/>
                </a:highlight>
              </a:rPr>
              <a:t>∈ACTIONS(s)</a:t>
            </a:r>
            <a:r>
              <a:rPr lang="en" sz="2000">
                <a:solidFill>
                  <a:srgbClr val="202124"/>
                </a:solidFill>
                <a:highlight>
                  <a:srgbClr val="FFFFFF"/>
                </a:highlight>
              </a:rPr>
              <a:t>H-MINIMAX(RESULT(s, a), d+1) 	if PLAYER(s) = MAX</a:t>
            </a:r>
            <a:endParaRPr sz="20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	min</a:t>
            </a:r>
            <a:r>
              <a:rPr baseline="-25000" lang="en" sz="1800"/>
              <a:t>a</a:t>
            </a:r>
            <a:r>
              <a:rPr baseline="-25000" lang="en" sz="2000">
                <a:solidFill>
                  <a:srgbClr val="202124"/>
                </a:solidFill>
                <a:highlight>
                  <a:srgbClr val="FFFFFF"/>
                </a:highlight>
              </a:rPr>
              <a:t>∈ACTIONS(s)</a:t>
            </a:r>
            <a:r>
              <a:rPr lang="en" sz="2000">
                <a:solidFill>
                  <a:srgbClr val="202124"/>
                </a:solidFill>
                <a:highlight>
                  <a:srgbClr val="FFFFFF"/>
                </a:highlight>
              </a:rPr>
              <a:t>H-MINIMAX(RESULT(s, a), d+1)  	if PLAYER(s) = MIN</a:t>
            </a:r>
            <a:endParaRPr sz="20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sp>
        <p:nvSpPr>
          <p:cNvPr id="253" name="Google Shape;253;p39"/>
          <p:cNvSpPr/>
          <p:nvPr/>
        </p:nvSpPr>
        <p:spPr>
          <a:xfrm>
            <a:off x="411125" y="4461175"/>
            <a:ext cx="306600" cy="1515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Functions</a:t>
            </a:r>
            <a:endParaRPr/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evaluation function should order the terminal states in the same way as the true utility function does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States that are wins must evaluate better than draws, which in turn must be better than losses.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computation must not take too long!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For nonterminal states, their orders should be strongly correlated with the actual chances of winning.</a:t>
            </a:r>
            <a:endParaRPr/>
          </a:p>
        </p:txBody>
      </p:sp>
      <p:sp>
        <p:nvSpPr>
          <p:cNvPr id="260" name="Google Shape;260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Cutting off search</a:t>
            </a:r>
            <a:endParaRPr/>
          </a:p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Minimax Cutoff is identical to Minimax Value except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𝑇𝑒𝑟𝑚𝑖𝑛𝑎𝑙? is replaced by 𝐶𝑢𝑡𝑜𝑓𝑓?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𝑈𝑡𝑖𝑙𝑖𝑡𝑦 is replaced by 𝐸𝑣𝑎𝑙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if</a:t>
            </a:r>
            <a:r>
              <a:rPr lang="en"/>
              <a:t> CUTOFF-TEST(state, depth)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EVAL(state)</a:t>
            </a:r>
            <a:endParaRPr/>
          </a:p>
        </p:txBody>
      </p:sp>
      <p:sp>
        <p:nvSpPr>
          <p:cNvPr id="267" name="Google Shape;267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Games</a:t>
            </a:r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Uncertain outcomes controlled by chance, not an adversary!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Why wouldn’t we know what the result of an action will be?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Explicit randomness: rolling dice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Unpredictable opponents: the ghosts respond randomly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Actions can fail: when moving a robot, wheels might slip</a:t>
            </a:r>
            <a:endParaRPr/>
          </a:p>
        </p:txBody>
      </p:sp>
      <p:sp>
        <p:nvSpPr>
          <p:cNvPr id="274" name="Google Shape;274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Expectimax search</a:t>
            </a:r>
            <a:endParaRPr/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Values reflect average-case (expectimax) outcomes, not worst-case (minimax) outcomes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Expectimax search: compute the average score under optimal play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Max nodes as in minimax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Chance nodes are like min nodes, but the outcome is uncertain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Calculate expected utilities, i.e. take weighted average of children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underlying uncertain-result problems can be formulated as Markov Decision Processes</a:t>
            </a:r>
            <a:endParaRPr/>
          </a:p>
        </p:txBody>
      </p:sp>
      <p:sp>
        <p:nvSpPr>
          <p:cNvPr id="281" name="Google Shape;281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Expectimax search</a:t>
            </a:r>
            <a:endParaRPr/>
          </a:p>
        </p:txBody>
      </p: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88" name="Google Shape;2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1632292"/>
            <a:ext cx="8167655" cy="5003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Expectimax search</a:t>
            </a:r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536624"/>
            <a:ext cx="8520600" cy="51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It is</a:t>
            </a:r>
            <a:r>
              <a:rPr lang="en"/>
              <a:t> possible to perform pruning in expectimax search.</a:t>
            </a:r>
            <a:endParaRPr/>
          </a:p>
          <a:p>
            <a:pPr indent="-35782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Common techniques for pruning in expectimax include: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Depth Limiting</a:t>
            </a:r>
            <a:r>
              <a:rPr lang="en"/>
              <a:t>: Limiting the depth of the search tree can effectively prune branches that are too deep to be practically explored.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Evaluation Function</a:t>
            </a:r>
            <a:r>
              <a:rPr lang="en"/>
              <a:t>: Using an evaluation function to estimate the value of a state without fully exploring its subtree. If the evaluation function indicates that further exploration is unlikely to yield significant improvements, you can prune the subtree.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Probabilistic Pruning</a:t>
            </a:r>
            <a:r>
              <a:rPr lang="en"/>
              <a:t>: In scenarios where probabilities are involved, you might prune branches that have very low probabilities of occurring, as they contribute little to the overall expectation.</a:t>
            </a:r>
            <a:endParaRPr/>
          </a:p>
          <a:p>
            <a:pPr indent="-357823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/>
              <a:t>Iterative Deepening</a:t>
            </a:r>
            <a:r>
              <a:rPr lang="en"/>
              <a:t>: Iterative deepening can be combined with pruning techniques to explore deeper parts of the tree only when necessary, based on the current state of the search.</a:t>
            </a:r>
            <a:endParaRPr/>
          </a:p>
        </p:txBody>
      </p:sp>
      <p:sp>
        <p:nvSpPr>
          <p:cNvPr id="295" name="Google Shape;295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301" name="Google Shape;301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endParaRPr/>
          </a:p>
        </p:txBody>
      </p:sp>
      <p:sp>
        <p:nvSpPr>
          <p:cNvPr id="302" name="Google Shape;302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08" name="Google Shape;308;p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309" name="Google Shape;309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