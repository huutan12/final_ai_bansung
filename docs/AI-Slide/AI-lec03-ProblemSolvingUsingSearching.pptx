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C5E270-7692-4A47-92CC-DDEA7C0DA84B}">
  <a:tblStyle styleId="{3CC5E270-7692-4A47-92CC-DDEA7C0D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3fd86a91f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3fd86a9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3fd86a91f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3fd86a91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3fd86a91f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3fd86a9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b3fd86a91f_0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b3fd86a91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b3fd86a91f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b3fd86a91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3fd86a91f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b3fd86a91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b3fd86a91f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b3fd86a91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3fd86a91f_0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b3fd86a91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3fd86a91f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b3fd86a91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b3fd86a91f_0_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b3fd86a91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3fd86a91f_0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3fd86a91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b3fd86a91f_0_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b3fd86a91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3fd86a91f_0_9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3fd86a91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3fd86a91f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3fd86a91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3fd86a91f_0_10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3fd86a91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3fd86a91f_0_1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3fd86a91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3fd86a91f_0_1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3fd86a91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b3fd86a91f_0_13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b3fd86a91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b3fd86a91f_0_1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b3fd86a91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3fd86a91f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3fd86a91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3fd86a91f_0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3fd86a91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3fd86a91f_0_1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3fd86a91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3fd86a91f_0_1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3fd86a91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b3fd86a91f_0_17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b3fd86a91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b3fd86a91f_0_1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b3fd86a91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6f16312e0_4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66f16312e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b3fd86a91f_0_1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b3fd86a91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6f16312e0_4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66f16312e0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2: Problem solving by searching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olab.research.google.com/drive/1FZSectdg6fQ-0GW7XNZXcMuuHyyQ6dSU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3: Problem Solving Using Searching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Problem-Solving Agents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Example Problems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Searching for Solutions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Holiday in Romania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75" y="1579925"/>
            <a:ext cx="8334074" cy="50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Goal-based Agents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Intelligent agents maximize their performance measure.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Goals help organize behavior by limiting the objectives that the agent is trying to achieve and the actions it considers.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Formulation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Consider a goal to be a set of world states in which the objective is satisfied.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Problem formulation is the process of deciding what actions and states to consider, given a goal.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525" y="3216425"/>
            <a:ext cx="5604974" cy="343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the Romania environment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 Observable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Each city has a sign indicating its presence for arriving drivers.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agent always knows the current state.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Discrete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Each city is connected to a small number of other cities.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There are only finitely many actions to choose from any given state.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Known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agent knows which states are reached by each action.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Deterministic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Each action has exactly one outcome.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problem by searching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Search: the process of looking for a sequence of actions that reaches the goal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search algorithm takes a problem as input and returns a solution in the form of an action sequence.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Execution phase: once a solution is found, the recommended actions are carried out.</a:t>
            </a:r>
            <a:endParaRPr/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problem by searching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PROBLEM-SOLVING-AGENT(percept) </a:t>
            </a:r>
            <a:r>
              <a:rPr b="1" lang="en"/>
              <a:t>returns</a:t>
            </a:r>
            <a:r>
              <a:rPr lang="en"/>
              <a:t> an action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persistent</a:t>
            </a:r>
            <a:r>
              <a:rPr lang="en"/>
              <a:t>: </a:t>
            </a:r>
            <a:r>
              <a:rPr i="1" lang="en"/>
              <a:t>seq</a:t>
            </a:r>
            <a:r>
              <a:rPr lang="en"/>
              <a:t>, an action sequence, initially empty</a:t>
            </a:r>
            <a:endParaRPr/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 state</a:t>
            </a:r>
            <a:r>
              <a:rPr lang="en"/>
              <a:t>, some description of the current world state </a:t>
            </a:r>
            <a:endParaRPr/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i="1" lang="en"/>
              <a:t> goal</a:t>
            </a:r>
            <a:r>
              <a:rPr lang="en"/>
              <a:t>, a goal, initially null</a:t>
            </a:r>
            <a:endParaRPr/>
          </a:p>
          <a:p>
            <a:pPr indent="457200" lvl="0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i="1" lang="en"/>
              <a:t> problem</a:t>
            </a:r>
            <a:r>
              <a:rPr lang="en"/>
              <a:t>, a problem formulation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state</a:t>
            </a:r>
            <a:r>
              <a:rPr lang="en"/>
              <a:t> ← UPDATE-STATE(</a:t>
            </a:r>
            <a:r>
              <a:rPr i="1" lang="en"/>
              <a:t>state</a:t>
            </a:r>
            <a:r>
              <a:rPr lang="en"/>
              <a:t>, </a:t>
            </a:r>
            <a:r>
              <a:rPr i="1" lang="en"/>
              <a:t>percept</a:t>
            </a:r>
            <a:r>
              <a:rPr lang="en"/>
              <a:t>)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</a:t>
            </a:r>
            <a:r>
              <a:rPr i="1" lang="en"/>
              <a:t>seq</a:t>
            </a:r>
            <a:r>
              <a:rPr lang="en"/>
              <a:t> is empty </a:t>
            </a:r>
            <a:r>
              <a:rPr b="1" lang="en"/>
              <a:t>then</a:t>
            </a:r>
            <a:endParaRPr b="1"/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i="1" lang="en"/>
              <a:t>goal</a:t>
            </a:r>
            <a:r>
              <a:rPr lang="en"/>
              <a:t> ← FORMULATE-GOAL(</a:t>
            </a:r>
            <a:r>
              <a:rPr i="1" lang="en"/>
              <a:t>state</a:t>
            </a:r>
            <a:r>
              <a:rPr lang="en"/>
              <a:t>)</a:t>
            </a:r>
            <a:endParaRPr/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problem</a:t>
            </a:r>
            <a:r>
              <a:rPr lang="en"/>
              <a:t> ← FORMULATE-PROBLEM(</a:t>
            </a:r>
            <a:r>
              <a:rPr i="1" lang="en"/>
              <a:t>state</a:t>
            </a:r>
            <a:r>
              <a:rPr lang="en"/>
              <a:t>, </a:t>
            </a:r>
            <a:r>
              <a:rPr i="1" lang="en"/>
              <a:t>goal</a:t>
            </a:r>
            <a:r>
              <a:rPr lang="en"/>
              <a:t>)</a:t>
            </a:r>
            <a:endParaRPr/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i="1" lang="en"/>
              <a:t>seq</a:t>
            </a:r>
            <a:r>
              <a:rPr lang="en"/>
              <a:t> ← </a:t>
            </a:r>
            <a:r>
              <a:rPr b="1" lang="en">
                <a:solidFill>
                  <a:srgbClr val="FF0000"/>
                </a:solidFill>
              </a:rPr>
              <a:t>SEARCH</a:t>
            </a:r>
            <a:r>
              <a:rPr lang="en"/>
              <a:t>(</a:t>
            </a:r>
            <a:r>
              <a:rPr i="1" lang="en"/>
              <a:t>problem</a:t>
            </a:r>
            <a:r>
              <a:rPr lang="en"/>
              <a:t>)</a:t>
            </a:r>
            <a:endParaRPr/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</a:t>
            </a:r>
            <a:r>
              <a:rPr i="1" lang="en"/>
              <a:t>seq</a:t>
            </a:r>
            <a:r>
              <a:rPr lang="en"/>
              <a:t> = failure </a:t>
            </a:r>
            <a:r>
              <a:rPr b="1" lang="en"/>
              <a:t>then</a:t>
            </a:r>
            <a:r>
              <a:rPr lang="en"/>
              <a:t> return a null action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i="1" lang="en"/>
              <a:t>action</a:t>
            </a:r>
            <a:r>
              <a:rPr lang="en"/>
              <a:t> ← FIRST(</a:t>
            </a:r>
            <a:r>
              <a:rPr i="1" lang="en"/>
              <a:t>seq</a:t>
            </a:r>
            <a:r>
              <a:rPr lang="en"/>
              <a:t>)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seq</a:t>
            </a:r>
            <a:r>
              <a:rPr lang="en"/>
              <a:t> ← REST(</a:t>
            </a:r>
            <a:r>
              <a:rPr i="1" lang="en"/>
              <a:t>seq</a:t>
            </a:r>
            <a:r>
              <a:rPr lang="en"/>
              <a:t>)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action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Well-defined problems and solutions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problem can be defined formally by important components.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Initial state: in which the agent starts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E.g., the agent in Romania has its initial state described as 𝐼𝑛(𝐴𝑟𝑎𝑑)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Actions: the possible actions available to the agent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E.g., 𝐴𝐶𝑇𝐼𝑂𝑁(𝐴𝑟𝑎𝑑) = {</a:t>
            </a:r>
            <a:endParaRPr/>
          </a:p>
          <a:p>
            <a:pPr indent="457200" lvl="0" marL="2743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𝐺𝑜(𝑆𝑖𝑏𝑖𝑢), 𝐺𝑜(𝑇𝑖𝑚𝑖𝑠𝑜𝑎𝑟𝑎), 𝐺𝑜(𝑍𝑒𝑟𝑖𝑛𝑑)}</a:t>
            </a:r>
            <a:endParaRPr/>
          </a:p>
          <a:p>
            <a:pPr indent="-368300" lvl="1" marL="914400" rtl="0" algn="just"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Transition model: what each action does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E.g., 𝑅𝑒𝑠𝑢𝑙𝑡(𝐼𝑛(𝐴𝑟𝑎𝑑), 𝐺𝑜(𝑍𝑒𝑟𝑖𝑛𝑑)) = 𝐼𝑛(𝑍𝑒𝑟𝑖𝑛𝑑)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Successor: a state reachable from a given state by a single action</a:t>
            </a:r>
            <a:endParaRPr/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Well-defined problems and solutions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Goal test: determine whether a given state is a goal state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The goal is specified by either an explicit set of possible goal states or an abstract property.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E.g., 𝐼𝑛(𝐵𝑢𝑐h𝑎𝑟𝑒𝑠𝑡), checkmate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Path cost: a function that sets a numeric cost to each path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Non-negative, reflecting the agent’s performance measure</a:t>
            </a:r>
            <a:endParaRPr/>
          </a:p>
          <a:p>
            <a:pPr indent="-368300" lvl="2" marL="1371600" rtl="0" algn="just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"/>
              <a:t>E.g., 𝑐(𝐼𝑛(𝐴𝑟𝑎𝑑),𝐺𝑜(𝑍𝑒𝑟𝑖𝑛𝑑),𝐼𝑛(𝑍𝑒𝑟𝑖𝑛𝑑)) = 75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 optimal solution has the lowest path cost.</a:t>
            </a:r>
            <a:endParaRPr/>
          </a:p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Formulating problems by abstraction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Abstraction creates an approximate and simplified model of the real world, which is too detailed for computers.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This is critical for automated problem solving.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choice of a good abstraction involves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Remove as much detail as possible while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Retain validity and ensure that the abstract actions are easy to be carried out.</a:t>
            </a:r>
            <a:endParaRPr/>
          </a:p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Vacuum-cleaner world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States: determined by both the agent location and the dirt locations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2 x 2</a:t>
            </a:r>
            <a:r>
              <a:rPr baseline="30000" lang="en"/>
              <a:t>2 </a:t>
            </a:r>
            <a:r>
              <a:rPr lang="en"/>
              <a:t>= 8 possible world states (𝑛 × 2</a:t>
            </a:r>
            <a:r>
              <a:rPr baseline="30000" lang="en"/>
              <a:t>𝑛</a:t>
            </a:r>
            <a:r>
              <a:rPr lang="en"/>
              <a:t> in general)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Initial state: Any state can be designated as the initial state.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Actions: Left, Right, and Suck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Transition model: The actions have their expected effects.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 test: whether all the squares are clean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Path cost: each step costs 1</a:t>
            </a:r>
            <a:endParaRPr/>
          </a:p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Vacuum-cleaner world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7546"/>
            <a:ext cx="9144001" cy="4759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8-puzzle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States: the location of each of the eight tiles and the blank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Initial state: any state can be designated as the initial state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Actions: movements of the blank space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Left, Right, Up, or Down.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Different subsets of these are possible depending on where the blank is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Transition model: return a resulting state given a state and an action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 test: whether the state matches the goal configuration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Path cost: each step costs 1</a:t>
            </a:r>
            <a:endParaRPr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8-puzzle</a:t>
            </a:r>
            <a:endParaRPr/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925" y="1938338"/>
            <a:ext cx="653415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8-queens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Incremental formulation: add a queen step-by-step to the empty initial state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Complete-state formulation: start with all 8 queens on the board and move them around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path cost is trivial because only the final state counts</a:t>
            </a:r>
            <a:endParaRPr/>
          </a:p>
        </p:txBody>
      </p:sp>
      <p:sp>
        <p:nvSpPr>
          <p:cNvPr id="170" name="Google Shape;170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7138" y="3717050"/>
            <a:ext cx="2769725" cy="27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8-queens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States: any arrangement of 0 to 8 queens on the board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Initial state: no queens on the board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Actions: add a queen to any empty square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Transition model: returns the board with a queen added to the specified square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Goal test: 8 queens are on the board, none attacked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64 ∙ 63 ⋯ 57 ≈ 1.8 × 10</a:t>
            </a:r>
            <a:r>
              <a:rPr baseline="30000" lang="en"/>
              <a:t>14</a:t>
            </a:r>
            <a:r>
              <a:rPr lang="en"/>
              <a:t> possible sequences to investigate</a:t>
            </a:r>
            <a:endParaRPr/>
          </a:p>
        </p:txBody>
      </p:sp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Tree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algorithms consider many possible action sequences to find the solution sequence.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tree: the possible action sequences starting at the initial state (root)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Branches are actions and nodes are states in the problem’s state space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Frontier</a:t>
            </a:r>
            <a:r>
              <a:rPr lang="en"/>
              <a:t>: the set of all leaf nodes available for expansion at any given point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Search algorithms all share the basic structure while vary according to how they choose which state to expand next -- called </a:t>
            </a:r>
            <a:r>
              <a:rPr b="1" lang="en"/>
              <a:t>search strategy</a:t>
            </a:r>
            <a:r>
              <a:rPr lang="en"/>
              <a:t>.</a:t>
            </a:r>
            <a:endParaRPr/>
          </a:p>
        </p:txBody>
      </p:sp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Tree</a:t>
            </a:r>
            <a:endParaRPr/>
          </a:p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348" y="1559000"/>
            <a:ext cx="6233326" cy="50834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</a:t>
            </a:r>
            <a:r>
              <a:rPr lang="en"/>
              <a:t>Search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TREE-SEARCH(</a:t>
            </a:r>
            <a:r>
              <a:rPr i="1" lang="en"/>
              <a:t>problem</a:t>
            </a:r>
            <a:r>
              <a:rPr lang="en"/>
              <a:t>) </a:t>
            </a:r>
            <a:r>
              <a:rPr b="1" lang="en"/>
              <a:t>returns</a:t>
            </a:r>
            <a:r>
              <a:rPr lang="en"/>
              <a:t> a solution, or failure 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initialize</a:t>
            </a:r>
            <a:r>
              <a:rPr lang="en"/>
              <a:t> the frontier using the initial state of </a:t>
            </a:r>
            <a:r>
              <a:rPr i="1" lang="en"/>
              <a:t>problem</a:t>
            </a:r>
            <a:endParaRPr i="1"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loop do</a:t>
            </a:r>
            <a:endParaRPr b="1"/>
          </a:p>
          <a:p>
            <a:pPr indent="457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if</a:t>
            </a:r>
            <a:r>
              <a:rPr lang="en"/>
              <a:t> the frontier is empty </a:t>
            </a:r>
            <a:r>
              <a:rPr b="1" lang="en"/>
              <a:t>then</a:t>
            </a:r>
            <a:r>
              <a:rPr lang="en"/>
              <a:t> return failure</a:t>
            </a:r>
            <a:endParaRPr/>
          </a:p>
          <a:p>
            <a:pPr indent="457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choose a leaf node and remove it from the frontier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the node contains a goal state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the corresponding solution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expand the chosen node, adding the resulting nodes to the frontier</a:t>
            </a:r>
            <a:endParaRPr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Redundant paths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Redundant paths are unavoidable.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Following redundant paths may cause a tractable problem to become intractable.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This is true even for algorithms that know how to avoid infinite loops.</a:t>
            </a:r>
            <a:endParaRPr/>
          </a:p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Search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GRAPH-SEARCH(problem) </a:t>
            </a:r>
            <a:r>
              <a:rPr b="1" lang="en"/>
              <a:t>returns</a:t>
            </a:r>
            <a:r>
              <a:rPr lang="en"/>
              <a:t> a solution, or failure</a:t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initialize the frontier using the initial state of problem </a:t>
            </a:r>
            <a:endParaRPr/>
          </a:p>
          <a:p>
            <a:pPr indent="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rgbClr val="FF0000"/>
                </a:solidFill>
              </a:rPr>
              <a:t>initialize the explored set to be empty</a:t>
            </a:r>
            <a:endParaRPr b="1" i="1">
              <a:solidFill>
                <a:srgbClr val="FF0000"/>
              </a:solidFill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loop do</a:t>
            </a:r>
            <a:endParaRPr b="1"/>
          </a:p>
          <a:p>
            <a:pPr indent="4572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if</a:t>
            </a:r>
            <a:r>
              <a:rPr lang="en"/>
              <a:t> the frontier is empty </a:t>
            </a:r>
            <a:r>
              <a:rPr b="1" lang="en"/>
              <a:t>then</a:t>
            </a:r>
            <a:r>
              <a:rPr lang="en"/>
              <a:t> return failure</a:t>
            </a:r>
            <a:endParaRPr/>
          </a:p>
          <a:p>
            <a:pPr indent="4572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choose a leaf node and remove it from the frontier</a:t>
            </a:r>
            <a:endParaRPr/>
          </a:p>
          <a:p>
            <a:pPr indent="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the node contains a goal state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the corresponding solution</a:t>
            </a:r>
            <a:endParaRPr/>
          </a:p>
          <a:p>
            <a:pPr indent="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rgbClr val="FF0000"/>
                </a:solidFill>
              </a:rPr>
              <a:t>add the node to the explored set</a:t>
            </a:r>
            <a:endParaRPr b="1" i="1">
              <a:solidFill>
                <a:srgbClr val="FF0000"/>
              </a:solidFill>
            </a:endParaRPr>
          </a:p>
          <a:p>
            <a:pPr indent="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expand the chosen node, adding the resulting nodes to the frontier </a:t>
            </a:r>
            <a:r>
              <a:rPr b="1" i="1" lang="en">
                <a:solidFill>
                  <a:srgbClr val="FF0000"/>
                </a:solidFill>
              </a:rPr>
              <a:t>only if not in the frontier nor explored set</a:t>
            </a:r>
            <a:endParaRPr b="1" i="1">
              <a:solidFill>
                <a:srgbClr val="FF0000"/>
              </a:solidFill>
            </a:endParaRPr>
          </a:p>
        </p:txBody>
      </p:sp>
      <p:sp>
        <p:nvSpPr>
          <p:cNvPr id="214" name="Google Shape;214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Search</a:t>
            </a:r>
            <a:endParaRPr/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038" y="1601750"/>
            <a:ext cx="5715925" cy="50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for search algorithms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node 𝑛 is structuralized by four components.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𝒏. 𝐒𝐓𝐀𝐓𝐄: the state in the state space to which the node corresponds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𝒏. 𝐏𝐀𝐑𝐄𝐍𝐓: the node in the search tree that generated the node 𝑛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𝒏. 𝐀𝐂𝐓𝐈𝐎𝐍: the action applied to the parent to generate 𝑛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𝒏. 𝐏𝐀𝐓𝐇 − 𝐂𝐎𝐒𝐓 : the cost, denoted by 𝒈(𝒏), of the path from the initial state to the node, as indicated by the parent pointer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Frontier can be implemented with a (priority) queue or stack.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Explored set can be a hash table that allows for efficient checking of repeated states.</a:t>
            </a:r>
            <a:endParaRPr/>
          </a:p>
        </p:txBody>
      </p:sp>
      <p:sp>
        <p:nvSpPr>
          <p:cNvPr id="229" name="Google Shape;229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for search algorithms</a:t>
            </a:r>
            <a:endParaRPr/>
          </a:p>
        </p:txBody>
      </p:sp>
      <p:sp>
        <p:nvSpPr>
          <p:cNvPr id="235" name="Google Shape;235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862" y="1721988"/>
            <a:ext cx="7626288" cy="44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roblem-solving performance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Completeness</a:t>
            </a:r>
            <a:r>
              <a:rPr lang="en"/>
              <a:t>: does it always find a solution if one exists?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Time complexity</a:t>
            </a:r>
            <a:r>
              <a:rPr lang="en"/>
              <a:t>: how long does it take to find a solution?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Space complexity</a:t>
            </a:r>
            <a:r>
              <a:rPr lang="en"/>
              <a:t>: how much memory is needed to perform the search?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Optimality</a:t>
            </a:r>
            <a:r>
              <a:rPr lang="en"/>
              <a:t>: does it always find a least-cost solution?</a:t>
            </a:r>
            <a:endParaRPr/>
          </a:p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Task 1: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Given the start state and the goal one of the 8-puzzle in page 15.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Students draw a search tree by the expanding nodes.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expansion stops when the goal state is </a:t>
            </a:r>
            <a:r>
              <a:rPr lang="en"/>
              <a:t>expanded</a:t>
            </a:r>
            <a:r>
              <a:rPr lang="en"/>
              <a:t>. 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Task 2: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Program Task 1 in Python using Google Colab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Use graph search instead of tree search</a:t>
            </a:r>
            <a:endParaRPr/>
          </a:p>
        </p:txBody>
      </p:sp>
      <p:sp>
        <p:nvSpPr>
          <p:cNvPr id="251" name="Google Shape;251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57" name="Google Shape;257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58" name="Google Shape;258;p40"/>
          <p:cNvGraphicFramePr/>
          <p:nvPr/>
        </p:nvGraphicFramePr>
        <p:xfrm>
          <a:off x="311700" y="16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9" name="Google Shape;259;p40"/>
          <p:cNvGraphicFramePr/>
          <p:nvPr/>
        </p:nvGraphicFramePr>
        <p:xfrm>
          <a:off x="2028675" y="16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40"/>
          <p:cNvGraphicFramePr/>
          <p:nvPr/>
        </p:nvGraphicFramePr>
        <p:xfrm>
          <a:off x="2028675" y="301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1" name="Google Shape;261;p40"/>
          <p:cNvGraphicFramePr/>
          <p:nvPr/>
        </p:nvGraphicFramePr>
        <p:xfrm>
          <a:off x="2028675" y="435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62" name="Google Shape;262;p40"/>
          <p:cNvCxnSpPr/>
          <p:nvPr/>
        </p:nvCxnSpPr>
        <p:spPr>
          <a:xfrm flipH="1" rot="10800000">
            <a:off x="1449825" y="2247725"/>
            <a:ext cx="586800" cy="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40"/>
          <p:cNvCxnSpPr/>
          <p:nvPr/>
        </p:nvCxnSpPr>
        <p:spPr>
          <a:xfrm>
            <a:off x="1475900" y="2273825"/>
            <a:ext cx="560700" cy="140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40"/>
          <p:cNvCxnSpPr/>
          <p:nvPr/>
        </p:nvCxnSpPr>
        <p:spPr>
          <a:xfrm>
            <a:off x="1488950" y="2299900"/>
            <a:ext cx="508500" cy="269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40"/>
          <p:cNvSpPr txBox="1"/>
          <p:nvPr/>
        </p:nvSpPr>
        <p:spPr>
          <a:xfrm>
            <a:off x="1562200" y="1776700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D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1632950" y="2719725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U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267" name="Google Shape;267;p40"/>
          <p:cNvSpPr txBox="1"/>
          <p:nvPr/>
        </p:nvSpPr>
        <p:spPr>
          <a:xfrm>
            <a:off x="1488950" y="3688825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L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268" name="Google Shape;268;p40"/>
          <p:cNvGraphicFramePr/>
          <p:nvPr/>
        </p:nvGraphicFramePr>
        <p:xfrm>
          <a:off x="3797825" y="168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69" name="Google Shape;269;p40"/>
          <p:cNvCxnSpPr/>
          <p:nvPr/>
        </p:nvCxnSpPr>
        <p:spPr>
          <a:xfrm flipH="1" rot="10800000">
            <a:off x="3196925" y="2247600"/>
            <a:ext cx="5997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40"/>
          <p:cNvSpPr txBox="1"/>
          <p:nvPr/>
        </p:nvSpPr>
        <p:spPr>
          <a:xfrm>
            <a:off x="3305275" y="1872475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L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271" name="Google Shape;271;p40"/>
          <p:cNvGraphicFramePr/>
          <p:nvPr/>
        </p:nvGraphicFramePr>
        <p:xfrm>
          <a:off x="3797825" y="305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72" name="Google Shape;272;p40"/>
          <p:cNvCxnSpPr/>
          <p:nvPr/>
        </p:nvCxnSpPr>
        <p:spPr>
          <a:xfrm>
            <a:off x="3196925" y="3590675"/>
            <a:ext cx="586800" cy="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40"/>
          <p:cNvSpPr txBox="1"/>
          <p:nvPr/>
        </p:nvSpPr>
        <p:spPr>
          <a:xfrm>
            <a:off x="3305275" y="3151525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L</a:t>
            </a:r>
            <a:endParaRPr sz="2200">
              <a:solidFill>
                <a:srgbClr val="FF0000"/>
              </a:solidFill>
            </a:endParaRPr>
          </a:p>
        </p:txBody>
      </p:sp>
      <p:graphicFrame>
        <p:nvGraphicFramePr>
          <p:cNvPr id="274" name="Google Shape;274;p40"/>
          <p:cNvGraphicFramePr/>
          <p:nvPr/>
        </p:nvGraphicFramePr>
        <p:xfrm>
          <a:off x="5325213" y="335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5" name="Google Shape;275;p40"/>
          <p:cNvGraphicFramePr/>
          <p:nvPr/>
        </p:nvGraphicFramePr>
        <p:xfrm>
          <a:off x="4317500" y="542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6" name="Google Shape;276;p40"/>
          <p:cNvGraphicFramePr/>
          <p:nvPr/>
        </p:nvGraphicFramePr>
        <p:xfrm>
          <a:off x="6606325" y="482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{3CC5E270-7692-4A47-92CC-DDEA7C0DA84B}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77" name="Google Shape;277;p40"/>
          <p:cNvCxnSpPr/>
          <p:nvPr/>
        </p:nvCxnSpPr>
        <p:spPr>
          <a:xfrm flipH="1" rot="10800000">
            <a:off x="3196925" y="4373500"/>
            <a:ext cx="2125800" cy="5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40"/>
          <p:cNvSpPr txBox="1"/>
          <p:nvPr/>
        </p:nvSpPr>
        <p:spPr>
          <a:xfrm>
            <a:off x="3573013" y="4357775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D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279" name="Google Shape;279;p40"/>
          <p:cNvCxnSpPr/>
          <p:nvPr/>
        </p:nvCxnSpPr>
        <p:spPr>
          <a:xfrm>
            <a:off x="3221050" y="4948825"/>
            <a:ext cx="1083900" cy="117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40"/>
          <p:cNvSpPr txBox="1"/>
          <p:nvPr/>
        </p:nvSpPr>
        <p:spPr>
          <a:xfrm>
            <a:off x="3573013" y="5564025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L</a:t>
            </a:r>
            <a:endParaRPr sz="2200">
              <a:solidFill>
                <a:srgbClr val="FF0000"/>
              </a:solidFill>
            </a:endParaRPr>
          </a:p>
        </p:txBody>
      </p:sp>
      <p:cxnSp>
        <p:nvCxnSpPr>
          <p:cNvPr id="281" name="Google Shape;281;p40"/>
          <p:cNvCxnSpPr/>
          <p:nvPr/>
        </p:nvCxnSpPr>
        <p:spPr>
          <a:xfrm>
            <a:off x="3209975" y="4948825"/>
            <a:ext cx="3373800" cy="42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40"/>
          <p:cNvSpPr txBox="1"/>
          <p:nvPr/>
        </p:nvSpPr>
        <p:spPr>
          <a:xfrm>
            <a:off x="5926588" y="4897375"/>
            <a:ext cx="3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U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89" name="Google Shape;289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graphviz </a:t>
            </a:r>
            <a:r>
              <a:rPr b="1" lang="en" sz="18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Digraph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 = Digraph()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dot.node(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'0'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'182\n_43\n765'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dot.node(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'1'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'182\n4_3\n765'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dot.node(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'2'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'_82\n143\n765'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dot.node(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'3'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'182\n743\n_65'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dot.edge(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'0'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'1'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'L'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dot.edge(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'0'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'2'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'D'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dot.edge(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'0'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'3'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8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'U'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dot</a:t>
            </a:r>
            <a:endParaRPr b="1" sz="1800">
              <a:highlight>
                <a:schemeClr val="lt1"/>
              </a:highlight>
            </a:endParaRPr>
          </a:p>
        </p:txBody>
      </p:sp>
      <p:sp>
        <p:nvSpPr>
          <p:cNvPr id="290" name="Google Shape;290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150" y="1903500"/>
            <a:ext cx="3775150" cy="37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endParaRPr/>
          </a:p>
        </p:txBody>
      </p:sp>
      <p:sp>
        <p:nvSpPr>
          <p:cNvPr id="298" name="Google Shape;298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305" name="Google Shape;305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