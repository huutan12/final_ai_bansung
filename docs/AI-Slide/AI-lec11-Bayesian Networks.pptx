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efcedf800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efcedf8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efcedf800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efcedf8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efcedf800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efcedf8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efcedf800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efcedf80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efcedf800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efcedf80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efcedf800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efcedf80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efcedf800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efcedf80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efcedf800_0_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efcedf80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efcedf800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efcedf80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efcedf800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efcedf80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efcedf800_0_1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6efcedf80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efcedf800_0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efcedf80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efcedf800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efcedf80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efcedf800_0_1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efcedf80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efcedf800_0_1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efcedf80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efcedf800_0_1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6efcedf80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efcedf800_0_1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efcedf80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efcedf800_0_1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efcedf800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efcedf800_0_20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efcedf800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efcedf800_0_2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efcedf80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efcedf800_0_2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6efcedf80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efcedf800_0_2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6efcedf800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6efcedf800_0_2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6efcedf800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efcedf800_0_2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efcedf80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47328cb43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47328cb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5: Probability Inference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olab.research.google.com/drive/1X0F8eTTk6VgvNWH0baWcrH8qUZT9n9iq?usp=drive_link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11: Bayesian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Representing Knowledge in an Uncertain Domain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Exact Inference in Bayesian Networks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Constructing Bayesian Networks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joint probability distribution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full joint probability distribution (JPD) can answer any question about the domain.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(Conditional) independence relationships among variables can greatly reduce the number of probabilities required.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Bayesian networks can represent essentially, and in many cases very concisely, any full JPD.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Belief network, probabilistic network, causal network, knowledge map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networks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Bayesian network is a directed graph in which each node is annotated with quantitative probability information.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node presents a random discrete/continuous variable.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set of directed links or arrows connects pairs of nodes.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node 𝑋</a:t>
            </a:r>
            <a:r>
              <a:rPr baseline="-25000" lang="en"/>
              <a:t>i</a:t>
            </a:r>
            <a:r>
              <a:rPr lang="en"/>
              <a:t> has a probability distribution 𝑷(𝑋</a:t>
            </a:r>
            <a:r>
              <a:rPr baseline="-25000" lang="en"/>
              <a:t>i </a:t>
            </a:r>
            <a:r>
              <a:rPr lang="en"/>
              <a:t>| 𝑃𝑎𝑟𝑒𝑛𝑡(𝑋</a:t>
            </a:r>
            <a:r>
              <a:rPr baseline="-25000" lang="en"/>
              <a:t>i</a:t>
            </a:r>
            <a:r>
              <a:rPr lang="en"/>
              <a:t> )) that quantifies the effect of the parents on the node.</a:t>
            </a:r>
            <a:endParaRPr/>
          </a:p>
          <a:p>
            <a:pPr indent="-368300" lvl="6" marL="32004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DAG</a:t>
            </a:r>
            <a:endParaRPr/>
          </a:p>
          <a:p>
            <a:pPr indent="-368300" lvl="6" marL="32004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X and Y are parents of Z</a:t>
            </a:r>
            <a:endParaRPr/>
          </a:p>
          <a:p>
            <a:pPr indent="-368300" lvl="6" marL="32004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Y is the parent of P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50" y="4080825"/>
            <a:ext cx="2506725" cy="23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network topology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network topology defines the conditional independence relationships that hold in the domain.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An arrow means that 𝑋 has a direct influence on 𝑌, which suggests that causes should be parents of effects.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 domain expert decides what direct influences exist.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Then, specify a conditional probability distribution for each variable, given its parents.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BN Example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Burglary and earthquakes directly affect the probability of the alarm’s going off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Whether John and Mary call depends only on the alarm.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1507" r="0" t="4471"/>
          <a:stretch/>
        </p:blipFill>
        <p:spPr>
          <a:xfrm>
            <a:off x="1758375" y="2821350"/>
            <a:ext cx="5627275" cy="403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probability table (CPT)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probabilities summarizes a potentially infinite set of circumstances in which an event does (not) happen.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 this way, a small agent can cope with a very large world, at least approximately.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the full joint distribution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entry in the joint distribution is the probability of a variable assignment, such as 𝑷(𝑋</a:t>
            </a:r>
            <a:r>
              <a:rPr baseline="-25000" lang="en"/>
              <a:t>1</a:t>
            </a:r>
            <a:r>
              <a:rPr lang="en"/>
              <a:t> = 𝑥</a:t>
            </a:r>
            <a:r>
              <a:rPr baseline="-25000" lang="en"/>
              <a:t>1</a:t>
            </a:r>
            <a:r>
              <a:rPr lang="en"/>
              <a:t> ∧⋯∧ 𝑋</a:t>
            </a:r>
            <a:r>
              <a:rPr baseline="-25000" lang="en"/>
              <a:t>n</a:t>
            </a:r>
            <a:r>
              <a:rPr lang="en"/>
              <a:t> = 𝑥</a:t>
            </a:r>
            <a:r>
              <a:rPr baseline="-25000" lang="en"/>
              <a:t>n</a:t>
            </a:r>
            <a:r>
              <a:rPr lang="en"/>
              <a:t>).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Thus, it is the product of the appropriate elements of the CPTs in the Bayesian network.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261" y="2504875"/>
            <a:ext cx="4965476" cy="10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the full joint distribution</a:t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1507" r="0" t="4471"/>
          <a:stretch/>
        </p:blipFill>
        <p:spPr>
          <a:xfrm>
            <a:off x="3516725" y="1695525"/>
            <a:ext cx="5627275" cy="403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52275"/>
            <a:ext cx="4897401" cy="16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the full joint distribution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75" y="1734117"/>
            <a:ext cx="8275640" cy="455595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𝑋 denotes the query variable.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𝑬 denotes the set of evidence variables 𝐸</a:t>
            </a:r>
            <a:r>
              <a:rPr baseline="-25000" lang="en"/>
              <a:t>1</a:t>
            </a:r>
            <a:r>
              <a:rPr lang="en"/>
              <a:t>,..., 𝐸</a:t>
            </a:r>
            <a:r>
              <a:rPr baseline="-25000" lang="en"/>
              <a:t>m</a:t>
            </a:r>
            <a:r>
              <a:rPr lang="en"/>
              <a:t>, and 𝒆 is a particular observed event.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𝑌 denotes the non-evidence, non-query variables 𝑌</a:t>
            </a:r>
            <a:r>
              <a:rPr baseline="-25000" lang="en"/>
              <a:t>1</a:t>
            </a:r>
            <a:r>
              <a:rPr lang="en"/>
              <a:t>,... , 𝑌</a:t>
            </a:r>
            <a:r>
              <a:rPr baseline="-25000" lang="en"/>
              <a:t>n</a:t>
            </a:r>
            <a:r>
              <a:rPr lang="en"/>
              <a:t> (called the hidden variables).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Thus, the complete set of variables is 𝑿 = {𝑋} ∪ 𝐸 ∪ 𝑌.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typical query asks for the posterior probability 𝑷(𝑋 | 𝒆)</a:t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the full joint distribution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87445"/>
            <a:ext cx="8520599" cy="46301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by enumeration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query can be answered by computing sums of products of conditional probabilities from the Bayesian network.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where 𝛼 stands for the constant denominator term, which is usually simplified during calculation.</a:t>
            </a:r>
            <a:endParaRPr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074" y="2528875"/>
            <a:ext cx="5177850" cy="10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by enumeration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Consider the following query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7823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hidden variables are 𝐸𝑎𝑟</a:t>
            </a:r>
            <a:r>
              <a:rPr i="1" lang="en"/>
              <a:t>th</a:t>
            </a:r>
            <a:r>
              <a:rPr lang="en"/>
              <a:t>𝑞𝑢𝑎𝑘𝑒 and 𝐴𝑙𝑎𝑟𝑚.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Using initial letters for the variables, we have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7823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 simplicity, we do this for 𝐵𝑢𝑟𝑔𝑙𝑎𝑟𝑦 = 𝑡𝑟𝑢𝑒.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7823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Complexity: 𝑶(𝒏𝟐</a:t>
            </a:r>
            <a:r>
              <a:rPr baseline="30000" lang="en"/>
              <a:t>𝒏</a:t>
            </a:r>
            <a:r>
              <a:rPr lang="en"/>
              <a:t>) for a network with 𝑛 Boolean variables</a:t>
            </a:r>
            <a:endParaRPr/>
          </a:p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550" y="2161325"/>
            <a:ext cx="6280901" cy="40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550" y="3528732"/>
            <a:ext cx="6280898" cy="85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8087" y="4969400"/>
            <a:ext cx="7107824" cy="9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by enumeration</a:t>
            </a:r>
            <a:endParaRPr/>
          </a:p>
        </p:txBody>
      </p:sp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 rotWithShape="1">
          <a:blip r:embed="rId3">
            <a:alphaModFix/>
          </a:blip>
          <a:srcRect b="0" l="0" r="0" t="4807"/>
          <a:stretch/>
        </p:blipFill>
        <p:spPr>
          <a:xfrm>
            <a:off x="311700" y="1573950"/>
            <a:ext cx="8329575" cy="5062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 a Bayesian network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Scenario 1: Network structure known and all variables observable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Compute only the CPT entries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Scenario 2: Network structure known while some variables hidden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Gradient descent (greedy hill-climbing) method, i.e., search for a solution along the steepest descent of a criterion function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Scenario 3: Network structure unknown, all variables observable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Search through the model space to reconstruct network topology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Scenario 4: Network structure unknown and all variables hidden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No good algorithms known for this purpose</a:t>
            </a:r>
            <a:endParaRPr/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 a Bayesian network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Chain Rule holds for any set of random variables.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We generally assert that, for every variable 𝑋</a:t>
            </a:r>
            <a:r>
              <a:rPr baseline="-25000" lang="en"/>
              <a:t>i</a:t>
            </a:r>
            <a:r>
              <a:rPr lang="en"/>
              <a:t> in the network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2" y="2073975"/>
            <a:ext cx="8196299" cy="2038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725" y="4829725"/>
            <a:ext cx="6463176" cy="5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 a Bayesian network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node must be conditionally independent of its other predecessors in the node ordering, given its parents.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Nodes: Identify the set of variables required to model the domain and order them {X</a:t>
            </a:r>
            <a:r>
              <a:rPr baseline="-25000" lang="en"/>
              <a:t>1</a:t>
            </a:r>
            <a:r>
              <a:rPr lang="en"/>
              <a:t>,..., X</a:t>
            </a:r>
            <a:r>
              <a:rPr baseline="-25000" lang="en"/>
              <a:t>n</a:t>
            </a:r>
            <a:r>
              <a:rPr lang="en"/>
              <a:t>}.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Links: For 𝑖 = 1 to 𝑛 do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Choose, from {𝑋</a:t>
            </a:r>
            <a:r>
              <a:rPr baseline="-25000" lang="en"/>
              <a:t>1</a:t>
            </a:r>
            <a:r>
              <a:rPr lang="en"/>
              <a:t>,...,𝑋</a:t>
            </a:r>
            <a:r>
              <a:rPr baseline="-25000" lang="en"/>
              <a:t>i-1</a:t>
            </a:r>
            <a:r>
              <a:rPr lang="en"/>
              <a:t>}, a minimal set of parents for 𝑋 such that Equation (*) is satisfied.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For each parent insert a link from the parent to 𝑋</a:t>
            </a:r>
            <a:r>
              <a:rPr baseline="-25000" lang="en"/>
              <a:t>𝑖</a:t>
            </a:r>
            <a:r>
              <a:rPr lang="en"/>
              <a:t>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CPTs: Write down the conditional probability table,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𝑃(𝑋</a:t>
            </a:r>
            <a:r>
              <a:rPr baseline="-25000" lang="en"/>
              <a:t>𝑖</a:t>
            </a:r>
            <a:r>
              <a:rPr lang="en"/>
              <a:t>|𝑃𝑎𝑟𝑒𝑛𝑡(𝑋</a:t>
            </a:r>
            <a:r>
              <a:rPr baseline="-25000" lang="en"/>
              <a:t>𝑖</a:t>
            </a:r>
            <a:r>
              <a:rPr lang="en"/>
              <a:t>))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Intuitively, the parents of node 𝑋</a:t>
            </a:r>
            <a:r>
              <a:rPr baseline="-25000" lang="en"/>
              <a:t>i</a:t>
            </a:r>
            <a:r>
              <a:rPr lang="en"/>
              <a:t> should contain all those nodes in {𝑋</a:t>
            </a:r>
            <a:r>
              <a:rPr baseline="-25000" lang="en"/>
              <a:t>1</a:t>
            </a:r>
            <a:r>
              <a:rPr lang="en"/>
              <a:t>,..., 𝑋</a:t>
            </a:r>
            <a:r>
              <a:rPr baseline="-25000" lang="en"/>
              <a:t>i-1</a:t>
            </a:r>
            <a:r>
              <a:rPr lang="en"/>
              <a:t>} that directly influence 𝑋</a:t>
            </a:r>
            <a:r>
              <a:rPr baseline="-25000" lang="en"/>
              <a:t>i</a:t>
            </a:r>
            <a:r>
              <a:rPr lang="en"/>
              <a:t>.</a:t>
            </a:r>
            <a:endParaRPr/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 a Bayesian network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network is guaranteed to be acyclic.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node is connected only to earlier nodes.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Bayesian networks contain no redundant probability values.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If there is no redundancy, then there is no chance for inconsistency.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It is impossible for the domain expert to create a Bayesian network that violates the axioms of probability.</a:t>
            </a:r>
            <a:endParaRPr/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You want to diagnose whether there is a fire in a building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You can receive reports (possibly noisy) about whether everyone is leaving the building.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everyone is leaving, this may have been caused by a fire alarm.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there is a fire alarm, it may have been caused by a fire or by tampering.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there is a fire, there may be smoke.</a:t>
            </a:r>
            <a:endParaRPr/>
          </a:p>
        </p:txBody>
      </p:sp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Start by choosing the random Boolean variables for this domain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𝑇𝑎𝑚𝑝𝑒𝑟𝑖𝑛𝑔 (𝑇) : the alarm has been tampered with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𝐹𝑖𝑟𝑒 (𝐹): there is a fire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𝐴𝑙𝑎𝑟𝑚 (𝐴): there is an alarm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𝑆𝑚𝑜𝑘𝑒 (𝑆): there is smoke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𝐿𝑒𝑎𝑣𝑖𝑛𝑔 (𝐿): there are lots of people leaving the building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𝑅𝑒𝑝𝑜𝑟𝑡 (𝑅): the sensor reports that everyone are leaving the building.</a:t>
            </a:r>
            <a:endParaRPr/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Define a total ordering of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Choose an order that follows the causal sequence of events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Fire (F) Tampering (T) Alarm (A) Smoke (S) Leaving (L) Report (R)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Consider the following chain rule and use given clues to simplify it</a:t>
            </a:r>
            <a:endParaRPr/>
          </a:p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75" y="4008975"/>
            <a:ext cx="7844848" cy="10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125" y="1690750"/>
            <a:ext cx="5783725" cy="373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8" y="5633001"/>
            <a:ext cx="8839198" cy="415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39" name="Google Shape;239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75" y="1560700"/>
            <a:ext cx="7982850" cy="501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46" name="Google Shape;246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37" y="1570705"/>
            <a:ext cx="8230124" cy="507439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7"/>
          <p:cNvSpPr/>
          <p:nvPr/>
        </p:nvSpPr>
        <p:spPr>
          <a:xfrm>
            <a:off x="499675" y="2148600"/>
            <a:ext cx="8119800" cy="434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37" y="1570705"/>
            <a:ext cx="8230124" cy="507439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71" name="Google Shape;271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