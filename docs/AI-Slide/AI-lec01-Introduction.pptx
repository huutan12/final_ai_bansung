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9AFA99-AA8E-4E92-95E2-4C8632ED66C5}">
  <a:tblStyle styleId="{F59AFA99-AA8E-4E92-95E2-4C8632ED66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ef645fb92_0_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ef645fb9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ef645fb92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aef645fb9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ef645fb92_0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ef645fb9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ef645fb92_0_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ef645fb9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ef645fb92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ef645fb9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ef645fb92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ef645fb9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ef645fb92_0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ef645fb9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ef645fb92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aef645fb9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ef645fb92_0_1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aef645fb9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aef645fb92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aef645fb9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ef645fb92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aef645fb9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ef645fb92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ef645fb9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ef645fb92_0_1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ef645fb9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aef645fb92_0_1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aef645fb9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aef645fb92_0_2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aef645fb9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ef645fb92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ef645fb9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aef645fb92_0_2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aef645fb9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ef645fb92_0_2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ef645fb9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ef645fb92_0_2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aef645fb9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aef645fb92_0_2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aef645fb9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ef645fb92_0_2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ef645fb9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ef645fb92_0_2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aef645fb92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aef645fb92_0_3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aef645fb92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ef645fb92_0_3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ef645fb9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aef645fb92_0_3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aef645fb92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aef645fb92_0_3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aef645fb9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ef645fb92_0_3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aef645fb92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1: Introduction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olab.research.google.com/drive/1cDbSIN_G_Y6dKjQrhVNT9C4EQ-L8Mytl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1: Introduction to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What is Artificial Intelligence (AI)?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Foundations of Artificial Intelligence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History of Artificial Intelligence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State of the Art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AI: Dreams for everyone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8122200" y="6309800"/>
            <a:ext cx="257400" cy="26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279" y="1606374"/>
            <a:ext cx="7255436" cy="465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AI: Sophia Robot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50" y="1784717"/>
            <a:ext cx="8111075" cy="455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AI: </a:t>
            </a:r>
            <a:r>
              <a:rPr lang="en"/>
              <a:t>Deep Blue – AlphaGo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632342"/>
            <a:ext cx="8167660" cy="4804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Intelligence vs. Artificial Intelligence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Intelligence</a:t>
            </a:r>
            <a:r>
              <a:rPr lang="en"/>
              <a:t> includes the capacity for logic, understanding, learning, reasoning, creativity, and problem solving, etc.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Artificial intelligence</a:t>
            </a:r>
            <a:r>
              <a:rPr lang="en"/>
              <a:t> (AI) attempts not just to understand but also to build intelligent entities.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37262"/>
            <a:ext cx="9144001" cy="199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50" y="5314100"/>
            <a:ext cx="9144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John McCarthy            Marvin Minsky           Allen Newell     Arthur Samuel   Herbert Simon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  (1927 – 2011)            (1927 – 2016)          (1927 – 1992)     (1901 – 1990)   (1916 – 2001)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fields of AI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AI research aims to build intelligent entities that are capable of simulating humans in different aspects.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Thinking: learning, planning, knowledge refinement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Perception: see, hear, feel, etc.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Communication in natural languages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Manipulation and moving objects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AI?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63" y="1603750"/>
            <a:ext cx="7864874" cy="480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 humanly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Turing Test approach (Alan Turing, 1950):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i="1" lang="en"/>
              <a:t>A computer passes the test if a human interrogator, after posing some written questions, cannot tell whether the written responses come from a person or from a computer.</a:t>
            </a:r>
            <a:endParaRPr i="1"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51569"/>
            <a:ext cx="9144000" cy="31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 humanly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Other Turing Test: Chihuahua and muffin</a:t>
            </a:r>
            <a:endParaRPr i="1"/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38" y="2010813"/>
            <a:ext cx="4581525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Thinking humanly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Cognitive modeling approach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program’s input-output behavior matches corresponding human behavior.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We need to get inside the actual workings of human minds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Introspection: trying to catch our own thoughts as they go by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Psychological experiments: observing a person in action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Brain imaging: observing the brain in action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Thinking humanly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General Problem Solver – GPS (Newell and Simon, 1961)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Not merely solve problems correctly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Compare the trace of its reasoning steps to traces of human subjects solving the same problems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Cognitive Science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Computer models from AI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Experimental techniques from psychology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These approaches are now distinct from AI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Share the available theories but do not explain anything resembling human intelligence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All share a principal direction</a:t>
            </a:r>
            <a:endParaRPr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Thinking rationally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laws of thought approach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“Right thinking” = irrefutable reasoning processes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Example of Aristotle (381BC – 322BC)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Obstacles: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Not all intelligence is mediated by logic behavior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Solving a problem “in </a:t>
            </a:r>
            <a:r>
              <a:rPr lang="en"/>
              <a:t>principle</a:t>
            </a:r>
            <a:r>
              <a:rPr lang="en"/>
              <a:t>” is different from doing in practise.</a:t>
            </a:r>
            <a:endParaRPr/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3" name="Google Shape;153;p25"/>
          <p:cNvGraphicFramePr/>
          <p:nvPr/>
        </p:nvGraphicFramePr>
        <p:xfrm>
          <a:off x="547875" y="28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{F59AFA99-AA8E-4E92-95E2-4C8632ED66C5}</a:tableStyleId>
              </a:tblPr>
              <a:tblGrid>
                <a:gridCol w="4349925"/>
                <a:gridCol w="369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All men are mortal.</a:t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Socrates is a man.</a:t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Therefore, Socrates is mortal.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∀</a:t>
                      </a:r>
                      <a:r>
                        <a:rPr lang="en" sz="2200"/>
                        <a:t>x.man(x)</a:t>
                      </a:r>
                      <a:r>
                        <a:rPr b="1" lang="en" sz="2100">
                          <a:solidFill>
                            <a:srgbClr val="202122"/>
                          </a:solidFill>
                          <a:highlight>
                            <a:schemeClr val="lt1"/>
                          </a:highlight>
                        </a:rPr>
                        <a:t>⇒</a:t>
                      </a:r>
                      <a:r>
                        <a:rPr lang="en" sz="2200"/>
                        <a:t>mortal(x) </a:t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man(Socrates)</a:t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mortal(Socrates)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 rationally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rational agent approach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Rational behavior = “doing the right thing”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“right thing” is what is expected to maximize goal achievement given the available information.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agent is just something that perceives and then acts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f: P* → A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rational agent acts to achieve the best outcome or, when there is uncertainty, the best expected outcome.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AI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AI studies the intelligent part concerned with humans and represents those actions using computers.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Make computers more useful by letting them take over dangerous or tedious tasks from human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Understand principles of human intelligence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research fields</a:t>
            </a:r>
            <a:endParaRPr/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4" name="Google Shape;174;p28"/>
          <p:cNvGraphicFramePr/>
          <p:nvPr/>
        </p:nvGraphicFramePr>
        <p:xfrm>
          <a:off x="0" y="164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{F59AFA99-AA8E-4E92-95E2-4C8632ED66C5}</a:tableStyleId>
              </a:tblPr>
              <a:tblGrid>
                <a:gridCol w="2375850"/>
                <a:gridCol w="6768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Field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Description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Philosophy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Logic, methods of reasoning, mind as physical system, </a:t>
                      </a:r>
                      <a:r>
                        <a:rPr lang="en" sz="1700"/>
                        <a:t>f</a:t>
                      </a:r>
                      <a:r>
                        <a:rPr lang="en" sz="1700"/>
                        <a:t>oundations of learning, language, rationality.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Mathematics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Formal representation and proof, algorithms, computation, (un)decidability, (in)tractability, probability.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Economics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Utility, decision theory, rational economic agents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Neuroscience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Neurons as information processing units.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Psychology/</a:t>
                      </a:r>
                      <a:endParaRPr sz="17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Cognitive Science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How do people behave, perceive, process information, represent </a:t>
                      </a:r>
                      <a:r>
                        <a:rPr lang="en" sz="1700"/>
                        <a:t>knowledge.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Computer Engineering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Building fast computers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Control Theory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Design systems that maximize an objective function over time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Linguistic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Knowledge representation, grammar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topics in AI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(includes Game Playing)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Representing knowledge and reasoning with it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Planning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Learning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Natural language processing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Expert systems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Interacting with the Environment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Vision, Speech recognition, Robotics, etc.</a:t>
            </a:r>
            <a:endParaRPr/>
          </a:p>
        </p:txBody>
      </p: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and Cons of AI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More powerful and more useful computers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New and improved interfaces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Solve new problems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Better handling of information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Relieve information overload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Conversion of information into knowledge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Increased costs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Difficulty with software development - slow and expensive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Few experienced programmers</a:t>
            </a:r>
            <a:endParaRPr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problems by searching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is the fundamental technique of AI, either “uninformed” or “informed”.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for the first answer that satisfies our goal or keep searching until we find the best answer.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650" y="3329750"/>
            <a:ext cx="4160350" cy="32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925" y="3352062"/>
            <a:ext cx="2883362" cy="3208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problems by searching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is the fundamental technique of AI, either “uninformed” or “informed”.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for the first answer that satisfies our goal or keep searching until we find the best answer.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363" y="3329663"/>
            <a:ext cx="340042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599" y="3329674"/>
            <a:ext cx="3344946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and reasoning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</a:t>
            </a:r>
            <a:r>
              <a:rPr lang="en"/>
              <a:t>o act rationally in our environment, then we must have some way of describing that environment and drawing inferences from that representation.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describe what we know about the world 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describe it concisely 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describe it so that we can get hold of the right piece of knowledge when we need it 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generate new pieces of knowledge 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deal with uncertain knowledge ?</a:t>
            </a:r>
            <a:endParaRPr/>
          </a:p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and reasoning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Propositional logic and predicate logic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Inference techniques: forward chaining, backward chaining, and resolution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Uncertain knowledge and reasoning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50" y="3414400"/>
            <a:ext cx="4455749" cy="30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4"/>
          <p:cNvPicPr preferRelativeResize="0"/>
          <p:nvPr/>
        </p:nvPicPr>
        <p:blipFill rotWithShape="1">
          <a:blip r:embed="rId4">
            <a:alphaModFix/>
          </a:blip>
          <a:srcRect b="0" l="3054" r="0" t="0"/>
          <a:stretch/>
        </p:blipFill>
        <p:spPr>
          <a:xfrm>
            <a:off x="4739720" y="3496125"/>
            <a:ext cx="4348556" cy="28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</a:t>
            </a:r>
            <a:r>
              <a:rPr lang="en"/>
              <a:t>f a system is going to act truly appropriately, then it must be able to change its actions in the light of experience.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generate new facts from old 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generate new concepts 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do we learn to distinguish different situations in new environments?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047" y="3721925"/>
            <a:ext cx="3817975" cy="291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955739"/>
            <a:ext cx="4394025" cy="2612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AI</a:t>
            </a:r>
            <a:endParaRPr/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i="1" lang="en"/>
              <a:t>1940-1950: Early days</a:t>
            </a:r>
            <a:endParaRPr b="1" i="1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1943: McCulloch &amp; Pitts: Boolean circuit model of brain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1950: Turing's “Computing Machinery and Intelligence”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i="1" lang="en"/>
              <a:t>1950—70: Excitement: Look, Ma, no hands!</a:t>
            </a:r>
            <a:endParaRPr b="1" i="1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1950s: Early AI programs, including Samuel's checkers program, Newell &amp; Simon's Logic Theorist, Gelernter's Geometry Engine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1956: Dartmouth meeting: “Artificial Intelligence” adopted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1965: Robinson's complete algorithm for logical reasoning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i="1" lang="en"/>
              <a:t>1970—90: Knowledge-based approaches</a:t>
            </a:r>
            <a:endParaRPr b="1" i="1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1969—79: Early development of knowledge-based systems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1980—88: Expert systems industry booms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1988—93: Expert systems industry busts: “A Winter”</a:t>
            </a:r>
            <a:endParaRPr/>
          </a:p>
        </p:txBody>
      </p:sp>
      <p:sp>
        <p:nvSpPr>
          <p:cNvPr id="239" name="Google Shape;239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AI</a:t>
            </a:r>
            <a:endParaRPr/>
          </a:p>
        </p:txBody>
      </p:sp>
      <p:sp>
        <p:nvSpPr>
          <p:cNvPr id="245" name="Google Shape;245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1990—: Statistical approaches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Resurgence of probability, focus on uncertainty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General increase in technical depth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Agents and learning systems... “A Spring”?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2000—: Where are we now?</a:t>
            </a:r>
            <a:endParaRPr/>
          </a:p>
        </p:txBody>
      </p:sp>
      <p:sp>
        <p:nvSpPr>
          <p:cNvPr id="246" name="Google Shape;246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advancements</a:t>
            </a:r>
            <a:endParaRPr/>
          </a:p>
        </p:txBody>
      </p:sp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650" y="1767625"/>
            <a:ext cx="7150699" cy="461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advancements</a:t>
            </a:r>
            <a:endParaRPr/>
          </a:p>
        </p:txBody>
      </p:sp>
      <p:sp>
        <p:nvSpPr>
          <p:cNvPr id="260" name="Google Shape;260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3" y="1710617"/>
            <a:ext cx="85629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advancements</a:t>
            </a:r>
            <a:endParaRPr/>
          </a:p>
        </p:txBody>
      </p:sp>
      <p:sp>
        <p:nvSpPr>
          <p:cNvPr id="268" name="Google Shape;268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863" y="1635714"/>
            <a:ext cx="7984274" cy="501868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76" name="Google Shape;276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277" name="Google Shape;277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83" name="Google Shape;283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