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092809-5D7F-4FCB-9130-11CE2C578DBF}">
  <a:tblStyle styleId="{38092809-5D7F-4FCB-9130-11CE2C578D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ef645fb92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ef645fb9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b1ab4322db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b1ab4322d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1ab4322db_0_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b1ab4322d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b1ab4322db_0_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b1ab4322d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b1ab4322db_0_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b1ab4322d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b1ab4322db_0_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b1ab4322d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b1ab4322db_0_5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b1ab4322d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b1ab4322db_0_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b1ab4322d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b1ab4322db_0_7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b1ab4322d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b1ab4322db_0_8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b1ab4322d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b1ab4322db_0_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b1ab4322d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b1ab4322db_0_9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b1ab4322db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b1ab4322db_0_10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b1ab4322db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b1cd4c2349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b1cd4c23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b1ab4322db_0_1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b1ab4322db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b1ab4322db_0_1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b1ab4322d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b1ab4322db_0_13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b1ab4322db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b1ab4322db_0_1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b1ab4322d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b1ab4322db_0_1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b1ab4322d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b1ab4322db_0_1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b1ab4322d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b1ab4322db_0_16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b1ab4322d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b1ab4322db_0_17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b1ab4322db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b1ab4322db_0_18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b1ab4322db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b1ab4322db_0_18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b1ab4322db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b1ab4322db_0_19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b1ab4322db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b1ab4322db_0_20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b1ab4322db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b1ab4322db_0_2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b1ab4322db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1ab4322db_0_2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b1ab4322db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b1ab4322db_0_2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b1ab4322db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b1ab4322db_0_2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b1ab4322db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b1ab4322db_0_2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b1ab4322db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b1ab4322db_0_25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b1ab4322db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b1ab4322db_0_25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b1ab4322db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b1ab4322db_0_2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b1ab4322db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e403d1a517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e403d1a5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aef645fb92_0_3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aef645fb9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DTU- AI Slide Templat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  <a:defRPr b="1" sz="3200">
                <a:solidFill>
                  <a:srgbClr val="FF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50213" y="521139"/>
            <a:ext cx="1643576" cy="98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3706100" y="1558636"/>
            <a:ext cx="1731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503043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1056450" y="4526323"/>
            <a:ext cx="703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Lecturer: Nguyễn Thành An, MSc.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9E9E9E"/>
                </a:solidFill>
              </a:defRPr>
            </a:lvl1pPr>
            <a:lvl2pPr lvl="1">
              <a:buNone/>
              <a:defRPr>
                <a:solidFill>
                  <a:srgbClr val="9E9E9E"/>
                </a:solidFill>
              </a:defRPr>
            </a:lvl2pPr>
            <a:lvl3pPr lvl="2">
              <a:buNone/>
              <a:defRPr>
                <a:solidFill>
                  <a:srgbClr val="9E9E9E"/>
                </a:solidFill>
              </a:defRPr>
            </a:lvl3pPr>
            <a:lvl4pPr lvl="3">
              <a:buNone/>
              <a:defRPr>
                <a:solidFill>
                  <a:srgbClr val="9E9E9E"/>
                </a:solidFill>
              </a:defRPr>
            </a:lvl4pPr>
            <a:lvl5pPr lvl="4">
              <a:buNone/>
              <a:defRPr>
                <a:solidFill>
                  <a:srgbClr val="9E9E9E"/>
                </a:solidFill>
              </a:defRPr>
            </a:lvl5pPr>
            <a:lvl6pPr lvl="5">
              <a:buNone/>
              <a:defRPr>
                <a:solidFill>
                  <a:srgbClr val="9E9E9E"/>
                </a:solidFill>
              </a:defRPr>
            </a:lvl6pPr>
            <a:lvl7pPr lvl="6">
              <a:buNone/>
              <a:defRPr>
                <a:solidFill>
                  <a:srgbClr val="9E9E9E"/>
                </a:solidFill>
              </a:defRPr>
            </a:lvl7pPr>
            <a:lvl8pPr lvl="7">
              <a:buNone/>
              <a:defRPr>
                <a:solidFill>
                  <a:srgbClr val="9E9E9E"/>
                </a:solidFill>
              </a:defRPr>
            </a:lvl8pPr>
            <a:lvl9pPr lvl="8">
              <a:buNone/>
              <a:defRPr>
                <a:solidFill>
                  <a:srgbClr val="9E9E9E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0" y="13439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pic>
        <p:nvPicPr>
          <p:cNvPr id="24" name="Google Shape;24;p4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955" y="489466"/>
            <a:ext cx="1273318" cy="7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/>
        </p:nvSpPr>
        <p:spPr>
          <a:xfrm>
            <a:off x="51941" y="6271575"/>
            <a:ext cx="15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2026/05/22</a:t>
            </a:r>
            <a:endParaRPr b="1" sz="1800">
              <a:solidFill>
                <a:srgbClr val="9E9E9E"/>
              </a:solidFill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1610450" y="6271575"/>
            <a:ext cx="686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503043 - Chapter 1: Introduction</a:t>
            </a:r>
            <a:endParaRPr b="1" sz="1800">
              <a:solidFill>
                <a:srgbClr val="9E9E9E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b="1" sz="1800">
                <a:solidFill>
                  <a:schemeClr val="dk1"/>
                </a:solidFill>
              </a:defRPr>
            </a:lvl1pPr>
            <a:lvl2pPr lvl="1" algn="r">
              <a:buNone/>
              <a:defRPr b="1" sz="1800">
                <a:solidFill>
                  <a:schemeClr val="dk1"/>
                </a:solidFill>
              </a:defRPr>
            </a:lvl2pPr>
            <a:lvl3pPr lvl="2" algn="r">
              <a:buNone/>
              <a:defRPr b="1" sz="1800">
                <a:solidFill>
                  <a:schemeClr val="dk1"/>
                </a:solidFill>
              </a:defRPr>
            </a:lvl3pPr>
            <a:lvl4pPr lvl="3" algn="r">
              <a:buNone/>
              <a:defRPr b="1" sz="1800">
                <a:solidFill>
                  <a:schemeClr val="dk1"/>
                </a:solidFill>
              </a:defRPr>
            </a:lvl4pPr>
            <a:lvl5pPr lvl="4" algn="r">
              <a:buNone/>
              <a:defRPr b="1" sz="1800">
                <a:solidFill>
                  <a:schemeClr val="dk1"/>
                </a:solidFill>
              </a:defRPr>
            </a:lvl5pPr>
            <a:lvl6pPr lvl="5" algn="r">
              <a:buNone/>
              <a:defRPr b="1" sz="1800">
                <a:solidFill>
                  <a:schemeClr val="dk1"/>
                </a:solidFill>
              </a:defRPr>
            </a:lvl6pPr>
            <a:lvl7pPr lvl="6" algn="r">
              <a:buNone/>
              <a:defRPr b="1" sz="1800">
                <a:solidFill>
                  <a:schemeClr val="dk1"/>
                </a:solidFill>
              </a:defRPr>
            </a:lvl7pPr>
            <a:lvl8pPr lvl="7" algn="r">
              <a:buNone/>
              <a:defRPr b="1" sz="1800">
                <a:solidFill>
                  <a:schemeClr val="dk1"/>
                </a:solidFill>
              </a:defRPr>
            </a:lvl8pPr>
            <a:lvl9pPr lvl="8" algn="r">
              <a:buNone/>
              <a:defRPr b="1" sz="1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66661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youtube.com/watch?v=kopoLzvh5jY" TargetMode="External"/><Relationship Id="rId4" Type="http://schemas.openxmlformats.org/officeDocument/2006/relationships/hyperlink" Target="https://www.youtube.com/watch?v=IzaaSIEDg7s" TargetMode="External"/><Relationship Id="rId5" Type="http://schemas.openxmlformats.org/officeDocument/2006/relationships/hyperlink" Target="https://youtu.be/shccS5kJvtQ" TargetMode="External"/><Relationship Id="rId6" Type="http://schemas.openxmlformats.org/officeDocument/2006/relationships/hyperlink" Target="https://youtu.be/FIz8ycRCSw0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colab.research.google.com/drive/18rGoI0GQUHznr5VofnA-30mECYt5H9bU?usp=sharing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</a:t>
            </a:r>
            <a:endParaRPr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2: Intelligent Agents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Agents and Environments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Concept of Rationality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Nature of Environments 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Structures of Agents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agent?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AI studies how to make computers do things that people are better at if they could.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Such systems are called Agents.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An agent </a:t>
            </a:r>
            <a:r>
              <a:rPr b="1" lang="en"/>
              <a:t>perceives</a:t>
            </a:r>
            <a:r>
              <a:rPr lang="en"/>
              <a:t> its environment through </a:t>
            </a:r>
            <a:r>
              <a:rPr b="1" lang="en"/>
              <a:t>sensors</a:t>
            </a:r>
            <a:r>
              <a:rPr lang="en"/>
              <a:t> and </a:t>
            </a:r>
            <a:r>
              <a:rPr b="1" lang="en"/>
              <a:t>acts</a:t>
            </a:r>
            <a:r>
              <a:rPr lang="en"/>
              <a:t> upon that environment through </a:t>
            </a:r>
            <a:r>
              <a:rPr b="1" lang="en"/>
              <a:t>actuators.</a:t>
            </a:r>
            <a:endParaRPr b="1"/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8275" y="3676263"/>
            <a:ext cx="6067425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Agents</a:t>
            </a:r>
            <a:endParaRPr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84" name="Google Shape;84;p16"/>
          <p:cNvGraphicFramePr/>
          <p:nvPr/>
        </p:nvGraphicFramePr>
        <p:xfrm>
          <a:off x="311700" y="1937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{38092809-5D7F-4FCB-9130-11CE2C578DBF}</a:tableStyleId>
              </a:tblPr>
              <a:tblGrid>
                <a:gridCol w="2114050"/>
                <a:gridCol w="3174475"/>
                <a:gridCol w="3232075"/>
              </a:tblGrid>
              <a:tr h="52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/>
                        <a:t>Agent</a:t>
                      </a:r>
                      <a:endParaRPr b="1" sz="2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/>
                        <a:t>Sensors</a:t>
                      </a:r>
                      <a:endParaRPr b="1" sz="2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/>
                        <a:t>Actuators</a:t>
                      </a:r>
                      <a:endParaRPr b="1" sz="2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52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Human agent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eyes, ears, and other organs.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hands, legs, vocal tract, etc.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809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Robotic agent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cameras, infrared range finders, etc.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levels, motors, etc.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1092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Software agent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keystrokes, file contents, network packets, etc.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displaying on screen, writing files, sending network packets, etc.</a:t>
                      </a:r>
                      <a:endParaRPr sz="2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Agent’s Behavior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Percept: the agent’s perceptual inputs at any given instant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Percept sequence: the complete history of everything the agent has ever perceived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An agent’s behavior is described by the agent function that maps any given percept sequence to an action.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f: P* → A</a:t>
            </a:r>
            <a:endParaRPr/>
          </a:p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Vacuum Agent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Percepts: location and contents, e.g., [A,Dirty]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Actions: Left, Right, Suck, Do Nothing</a:t>
            </a:r>
            <a:endParaRPr/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025" y="2919100"/>
            <a:ext cx="5695950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Vacuum Agent</a:t>
            </a:r>
            <a:endParaRPr/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07" name="Google Shape;107;p19"/>
          <p:cNvGraphicFramePr/>
          <p:nvPr/>
        </p:nvGraphicFramePr>
        <p:xfrm>
          <a:off x="952500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{38092809-5D7F-4FCB-9130-11CE2C578DBF}</a:tableStyleId>
              </a:tblPr>
              <a:tblGrid>
                <a:gridCol w="4829725"/>
                <a:gridCol w="2409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/>
                        <a:t>Percept sequence</a:t>
                      </a:r>
                      <a:endParaRPr b="1" sz="2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/>
                        <a:t>Action</a:t>
                      </a:r>
                      <a:endParaRPr b="1" sz="2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[A, Clean] 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Right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[A, Dirty] 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Suck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[B, Clean] 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Left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[B, Dirty] 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Suck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…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…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[A, Clean], [A, Clean], [A, Clean]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Right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[A, Clean], [A, Clean], [A, Dirty]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Suck</a:t>
                      </a:r>
                      <a:endParaRPr sz="2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Vacuum Agent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VACUUM-AGENT([location,status])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returns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an action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status = Dirty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Suck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else if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location = A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then return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Right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else if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location = B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then return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Left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agents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tool for analyzing systems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All areas of engineering can be seen as designing artifacts that interact with the world.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AI designs artifacts that have significant computational resources and the task environment requires nontrivial decision making.</a:t>
            </a:r>
            <a:endParaRPr/>
          </a:p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Rational agents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rational agent is one that does the right thing.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We need ways to measure success → Performance measure.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Performance measure evaluates any given sequence of environment states.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General rule: Design performance measures according to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What one actually wants in the environment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Not how one thinks the agent should behave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Example: </a:t>
            </a:r>
            <a:r>
              <a:rPr lang="en"/>
              <a:t>vacuum</a:t>
            </a:r>
            <a:r>
              <a:rPr lang="en"/>
              <a:t> agent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amount of dirt cleaned up in a single eight-hour shift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floor clean, no matter how the agent behaves</a:t>
            </a:r>
            <a:endParaRPr/>
          </a:p>
        </p:txBody>
      </p:sp>
      <p:sp>
        <p:nvSpPr>
          <p:cNvPr id="129" name="Google Shape;129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Rationality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Performance measure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Define the criterion of success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Prior knowledge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What the agent knows about the environment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Percept sequence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agent’s percept to date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Actions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What the agent can perform</a:t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rational agents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For each possible percept sequence, a rational agent should select an action that is expected to maximize its performance measure, given the evidence provided by the percept sequence and whatever built-in knowledge the agent has.</a:t>
            </a:r>
            <a:endParaRPr/>
          </a:p>
        </p:txBody>
      </p:sp>
      <p:sp>
        <p:nvSpPr>
          <p:cNvPr id="143" name="Google Shape;143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Vacuum machine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Performance measure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Award one point for each clean square at each time step, over 10000 timesteps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Prior knowledge about the environment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geography of the environment (2 squares)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effect of the actions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Actions that can perform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Left, Right, Suck, and Do Nothing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Percept sequences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Where is the agent?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Whether the location contains dirt?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agent is rational.</a:t>
            </a:r>
            <a:endParaRPr/>
          </a:p>
        </p:txBody>
      </p:sp>
      <p:sp>
        <p:nvSpPr>
          <p:cNvPr id="150" name="Google Shape;150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Omniscience, Learning, Autonomy</a:t>
            </a:r>
            <a:endParaRPr/>
          </a:p>
        </p:txBody>
      </p:sp>
      <p:sp>
        <p:nvSpPr>
          <p:cNvPr id="156" name="Google Shape;156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57" name="Google Shape;157;p26"/>
          <p:cNvGraphicFramePr/>
          <p:nvPr/>
        </p:nvGraphicFramePr>
        <p:xfrm>
          <a:off x="311700" y="186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{38092809-5D7F-4FCB-9130-11CE2C578DBF}</a:tableStyleId>
              </a:tblPr>
              <a:tblGrid>
                <a:gridCol w="1816800"/>
                <a:gridCol w="6703800"/>
              </a:tblGrid>
              <a:tr h="186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Omniscience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683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Char char="●"/>
                      </a:pPr>
                      <a:r>
                        <a:rPr lang="en" sz="2200"/>
                        <a:t>Knows the actual outcome of its actions in advance</a:t>
                      </a:r>
                      <a:endParaRPr sz="2200"/>
                    </a:p>
                    <a:p>
                      <a:pPr indent="-3683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Char char="●"/>
                      </a:pPr>
                      <a:r>
                        <a:rPr lang="en" sz="2200"/>
                        <a:t>No other possible outcomes</a:t>
                      </a:r>
                      <a:endParaRPr sz="2200"/>
                    </a:p>
                    <a:p>
                      <a:pPr indent="-3683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Char char="●"/>
                      </a:pPr>
                      <a:r>
                        <a:rPr lang="en" sz="2200"/>
                        <a:t>Impossible in real world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104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Learning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683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Char char="●"/>
                      </a:pPr>
                      <a:r>
                        <a:rPr lang="en" sz="2200"/>
                        <a:t>A rational agent must learn as much as possible from what it perceives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1451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Autonomy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683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Char char="●"/>
                      </a:pPr>
                      <a:r>
                        <a:rPr lang="en" sz="2200"/>
                        <a:t>A rational agent should be autonomous – Learn what it can to compensate for partial or incorrect prior knowledge.</a:t>
                      </a:r>
                      <a:endParaRPr sz="2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Hide and seek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Apple collector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https://youtu.be/shccS5kJvtQ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https://youtu.be/FIz8ycRCSw0</a:t>
            </a:r>
            <a:r>
              <a:rPr lang="en"/>
              <a:t> </a:t>
            </a:r>
            <a:endParaRPr/>
          </a:p>
        </p:txBody>
      </p:sp>
      <p:sp>
        <p:nvSpPr>
          <p:cNvPr id="165" name="Google Shape;165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environment</a:t>
            </a:r>
            <a:endParaRPr/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Task environments are essentially the “problems” to which rational agents are the “solutions”.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PEAS: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"/>
              <a:t>P</a:t>
            </a:r>
            <a:r>
              <a:rPr lang="en"/>
              <a:t>erformance measure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"/>
              <a:t>E</a:t>
            </a:r>
            <a:r>
              <a:rPr lang="en"/>
              <a:t>nvironment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Agent’s </a:t>
            </a:r>
            <a:r>
              <a:rPr b="1" lang="en"/>
              <a:t>A</a:t>
            </a:r>
            <a:r>
              <a:rPr lang="en"/>
              <a:t>ctuators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Agent’s </a:t>
            </a:r>
            <a:r>
              <a:rPr b="1" lang="en"/>
              <a:t>S</a:t>
            </a:r>
            <a:r>
              <a:rPr lang="en"/>
              <a:t>ensors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 designing an agent, the first step must always be to specify the task environment (PEAS) as fully as possible.</a:t>
            </a:r>
            <a:endParaRPr/>
          </a:p>
        </p:txBody>
      </p:sp>
      <p:sp>
        <p:nvSpPr>
          <p:cNvPr id="172" name="Google Shape;172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Automated taxi driver</a:t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Agent type: taxi driver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Performance measure: safe, fast, legal, comfortable trip, maximize profits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Environment: roads, other traffic, pedestrians, passengers.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Sensors: cameras, sonar, speedometer, GPS, odometer, accelerometer, engine sensors, etc.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Actuators: steering, accelerator, brake, signal, horn, display.</a:t>
            </a:r>
            <a:endParaRPr/>
          </a:p>
        </p:txBody>
      </p:sp>
      <p:sp>
        <p:nvSpPr>
          <p:cNvPr id="179" name="Google Shape;179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Task Environment</a:t>
            </a:r>
            <a:endParaRPr/>
          </a:p>
        </p:txBody>
      </p:sp>
      <p:sp>
        <p:nvSpPr>
          <p:cNvPr id="185" name="Google Shape;185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86" name="Google Shape;186;p30"/>
          <p:cNvGraphicFramePr/>
          <p:nvPr/>
        </p:nvGraphicFramePr>
        <p:xfrm>
          <a:off x="952500" y="202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{38092809-5D7F-4FCB-9130-11CE2C578DBF}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/>
                        <a:t>Fully observable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Partially observable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Single agent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Multiagent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Deterministic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Stochastic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Episodic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Sequential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Static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Dynamic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Discrete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Continuous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Known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</a:rPr>
                        <a:t>Unknown</a:t>
                      </a:r>
                      <a:endParaRPr sz="2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Task Environment</a:t>
            </a:r>
            <a:endParaRPr/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Fully observable: The agent’s sensory gives it access to the complete state of the environment.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agent need not maintain internal state to keep track of the world.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Partially observable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Noisy and inaccurate sensors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Parts of the state are simply missing from the sensor data, e.g., a vacuum agent with only a local dirt sensor cannot tell whether there is dirt in other squares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Unobservable: The agent has no sensors at all</a:t>
            </a:r>
            <a:endParaRPr/>
          </a:p>
        </p:txBody>
      </p:sp>
      <p:sp>
        <p:nvSpPr>
          <p:cNvPr id="194" name="Google Shape;194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Task Environment</a:t>
            </a:r>
            <a:endParaRPr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Single agent: An agent operates by itself in an environment.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solving crossword → single-agent,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playing chess → two-agent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Competitive vs. Cooperative multiagent environment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playing chess → competitive,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driving on road → cooperative</a:t>
            </a:r>
            <a:endParaRPr/>
          </a:p>
        </p:txBody>
      </p:sp>
      <p:sp>
        <p:nvSpPr>
          <p:cNvPr id="201" name="Google Shape;201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Task Environment</a:t>
            </a:r>
            <a:endParaRPr/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Deterministic: The next state of the environment is completely determined by the current state and the action executed by the agent.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the vacuum world → deterministic,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driving on road → stochastic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Most real situations are so complex that they must be treated as stochastic.</a:t>
            </a:r>
            <a:endParaRPr/>
          </a:p>
        </p:txBody>
      </p:sp>
      <p:sp>
        <p:nvSpPr>
          <p:cNvPr id="208" name="Google Shape;208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Task Environment</a:t>
            </a:r>
            <a:endParaRPr/>
          </a:p>
        </p:txBody>
      </p:sp>
      <p:sp>
        <p:nvSpPr>
          <p:cNvPr id="214" name="Google Shape;214;p3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</a:t>
            </a:r>
            <a:r>
              <a:rPr lang="en"/>
              <a:t>pisodic: The agent’s experience is divided into atomic episodes, in each of which the agent receives a percept and then performs a single action.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Quality of action depends just on the episode itself 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Do not need to think ahead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Sequential: A current decision could affect future decisions.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spotting defective parts on an assembly line vs. playing chess</a:t>
            </a:r>
            <a:endParaRPr/>
          </a:p>
        </p:txBody>
      </p:sp>
      <p:sp>
        <p:nvSpPr>
          <p:cNvPr id="215" name="Google Shape;215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Task Environment</a:t>
            </a:r>
            <a:endParaRPr/>
          </a:p>
        </p:txBody>
      </p:sp>
      <p:sp>
        <p:nvSpPr>
          <p:cNvPr id="221" name="Google Shape;221;p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Static: The environment is unchanged while an agent is deliberating.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crossword puzzles → static, taxi driving → dynamic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Dynamic: The agent is continuous asked what it wants to do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If it has not decided yet, that counts as deciding to do nothing.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Semi-dynamic: The environment itself does not change with the passage of time but the agent’s performance score does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chess playing with a clock</a:t>
            </a:r>
            <a:endParaRPr/>
          </a:p>
        </p:txBody>
      </p:sp>
      <p:sp>
        <p:nvSpPr>
          <p:cNvPr id="222" name="Google Shape;222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Task Environment</a:t>
            </a:r>
            <a:endParaRPr/>
          </a:p>
        </p:txBody>
      </p:sp>
      <p:sp>
        <p:nvSpPr>
          <p:cNvPr id="228" name="Google Shape;228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5782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Discrete vs. continuous</a:t>
            </a:r>
            <a:endParaRPr/>
          </a:p>
          <a:p>
            <a:pPr indent="-357823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The distinction applies to the state of the environment, to the way time is handled, and to the agent’s percepts and actions</a:t>
            </a:r>
            <a:endParaRPr/>
          </a:p>
          <a:p>
            <a:pPr indent="-357823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E.g., the chess has a finite number of distinct states, percepts and actions; while the vehicles’ speeds and locations sweep through a range of continuous values smoothly over time.</a:t>
            </a:r>
            <a:endParaRPr/>
          </a:p>
          <a:p>
            <a:pPr indent="-35782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Known vs. unknown</a:t>
            </a:r>
            <a:endParaRPr/>
          </a:p>
          <a:p>
            <a:pPr indent="-357823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Known environment: the outcomes (or outcome probabilities if the environment is stochastic) for all actions are given.</a:t>
            </a:r>
            <a:endParaRPr/>
          </a:p>
          <a:p>
            <a:pPr indent="-357823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Unknown environment: the agent needs to learn how it works to make good decisions.</a:t>
            </a:r>
            <a:endParaRPr/>
          </a:p>
        </p:txBody>
      </p:sp>
      <p:sp>
        <p:nvSpPr>
          <p:cNvPr id="229" name="Google Shape;229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Structures of Agents</a:t>
            </a:r>
            <a:endParaRPr/>
          </a:p>
        </p:txBody>
      </p:sp>
      <p:sp>
        <p:nvSpPr>
          <p:cNvPr id="235" name="Google Shape;235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Simple reflex agents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Model-based reflex agents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Goal-based agents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Utility-based agents</a:t>
            </a:r>
            <a:endParaRPr/>
          </a:p>
        </p:txBody>
      </p:sp>
      <p:sp>
        <p:nvSpPr>
          <p:cNvPr id="236" name="Google Shape;236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reflex agents</a:t>
            </a:r>
            <a:endParaRPr/>
          </a:p>
        </p:txBody>
      </p:sp>
      <p:sp>
        <p:nvSpPr>
          <p:cNvPr id="242" name="Google Shape;242;p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Select actions based on the current percept, ignoring the rest of the percept history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connection from percept to action is represented by condition-action rules.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IF</a:t>
            </a:r>
            <a:r>
              <a:rPr lang="en"/>
              <a:t> current percept </a:t>
            </a:r>
            <a:r>
              <a:rPr b="1" lang="en"/>
              <a:t>THEN</a:t>
            </a:r>
            <a:r>
              <a:rPr lang="en"/>
              <a:t> action</a:t>
            </a:r>
            <a:endParaRPr/>
          </a:p>
        </p:txBody>
      </p:sp>
      <p:sp>
        <p:nvSpPr>
          <p:cNvPr id="243" name="Google Shape;243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reflex agents</a:t>
            </a:r>
            <a:endParaRPr/>
          </a:p>
        </p:txBody>
      </p:sp>
      <p:sp>
        <p:nvSpPr>
          <p:cNvPr id="249" name="Google Shape;249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0" name="Google Shape;25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3050" y="2050200"/>
            <a:ext cx="6057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Model-based reflex agents</a:t>
            </a:r>
            <a:endParaRPr/>
          </a:p>
        </p:txBody>
      </p:sp>
      <p:sp>
        <p:nvSpPr>
          <p:cNvPr id="257" name="Google Shape;257;p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Partially observable → the agent must keep track of an internal state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It depends on the percept history and reflects some of the unobserved aspects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driving a car and changing lane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agent program updates the internal state information as time goes by encoding two kinds of knowledge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How the world evolves independently of the agent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How the agent’s actions affect the world</a:t>
            </a:r>
            <a:endParaRPr/>
          </a:p>
        </p:txBody>
      </p:sp>
      <p:sp>
        <p:nvSpPr>
          <p:cNvPr id="258" name="Google Shape;258;p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Model-based reflex agents</a:t>
            </a:r>
            <a:endParaRPr/>
          </a:p>
        </p:txBody>
      </p:sp>
      <p:sp>
        <p:nvSpPr>
          <p:cNvPr id="264" name="Google Shape;264;p4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5" name="Google Shape;26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725" y="1794925"/>
            <a:ext cx="6486525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Goal-based agents</a:t>
            </a:r>
            <a:endParaRPr/>
          </a:p>
        </p:txBody>
      </p:sp>
      <p:sp>
        <p:nvSpPr>
          <p:cNvPr id="272" name="Google Shape;272;p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Current state of the environment is always not enough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agent further needs some sort of goal information that describes desired situations.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at a road junction, the taxi can turn left, turn right, or go straight on, depending on where the taxi is trying to get to.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Less efficient but more flexible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Knowledge that supports the decisions is represented explicitly and can be modified</a:t>
            </a:r>
            <a:endParaRPr/>
          </a:p>
        </p:txBody>
      </p:sp>
      <p:sp>
        <p:nvSpPr>
          <p:cNvPr id="273" name="Google Shape;273;p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Goal-based agents</a:t>
            </a:r>
            <a:endParaRPr/>
          </a:p>
        </p:txBody>
      </p:sp>
      <p:sp>
        <p:nvSpPr>
          <p:cNvPr id="279" name="Google Shape;279;p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0" name="Google Shape;28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638" y="1746850"/>
            <a:ext cx="7418725" cy="47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Utility-based agents</a:t>
            </a:r>
            <a:endParaRPr/>
          </a:p>
        </p:txBody>
      </p:sp>
      <p:sp>
        <p:nvSpPr>
          <p:cNvPr id="287" name="Google Shape;287;p4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Goals alone are inadequate to generate high-quality behavior in most environments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Many action sequences can get the goals, some are better, and some are worse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go home: Vinasun taxi or Grab car?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An agent’s utility function is essentially an internalization of the performance measure.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Goal → success, utility → degree of success (how successful it is)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If state A is more preferred than others, then A has higher utility</a:t>
            </a:r>
            <a:endParaRPr/>
          </a:p>
        </p:txBody>
      </p:sp>
      <p:sp>
        <p:nvSpPr>
          <p:cNvPr id="288" name="Google Shape;288;p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Utility-based agents</a:t>
            </a:r>
            <a:endParaRPr/>
          </a:p>
        </p:txBody>
      </p:sp>
      <p:sp>
        <p:nvSpPr>
          <p:cNvPr id="294" name="Google Shape;294;p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5" name="Google Shape;29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075" y="1802325"/>
            <a:ext cx="7139851" cy="462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Agents</a:t>
            </a:r>
            <a:endParaRPr/>
          </a:p>
        </p:txBody>
      </p:sp>
      <p:sp>
        <p:nvSpPr>
          <p:cNvPr id="302" name="Google Shape;302;p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3" name="Google Shape;30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650" y="1717898"/>
            <a:ext cx="7090701" cy="4768326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Agents</a:t>
            </a:r>
            <a:endParaRPr/>
          </a:p>
        </p:txBody>
      </p:sp>
      <p:sp>
        <p:nvSpPr>
          <p:cNvPr id="310" name="Google Shape;310;p4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Learning in intelligent agents is a process of modification of each component of the agent to bring the components into closer agreement with the available feedback information, thereby improving the overall performance of the agent.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Learning element → Making improvement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Performance element → Selecting external actions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Critic → Tells the Learning element how well the agent is doing with respect to fixed performance standard. (Feedback from user or examples, good or not?)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Problem generator → Suggest actions that will lead to new and informative experiences.</a:t>
            </a:r>
            <a:endParaRPr/>
          </a:p>
        </p:txBody>
      </p:sp>
      <p:sp>
        <p:nvSpPr>
          <p:cNvPr id="311" name="Google Shape;311;p4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317" name="Google Shape;317;p4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Conduct homework in the given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notebook</a:t>
            </a:r>
            <a:endParaRPr/>
          </a:p>
        </p:txBody>
      </p:sp>
      <p:sp>
        <p:nvSpPr>
          <p:cNvPr id="318" name="Google Shape;318;p4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24" name="Google Shape;324;p4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Stuart Russell and Peter Norvig. 2009. Artificial Intelligence: A Modern Approach (3rd ed.). Prentice Hall Press, Upper Saddle River, NJ, USA.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Lê Hoài Bắc, Tô Hoài Việt. 2014. Giáo trình Cơ sở Trí tuệ nhân tạo. Khoa Công nghệ Thông tin. Trường ĐH Khoa học Tự nhiên, ĐHQG-HCM.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Nguyễn Ngọc Thảo, Nguyễn Hải Minh. 2020. Bài giảng Cơ sở Trí tuệ Nhân tạo. </a:t>
            </a:r>
            <a:r>
              <a:rPr lang="en"/>
              <a:t>Khoa Công nghệ Thông tin. Trường ĐH Khoa học Tự nhiên, ĐHQG-HCM.</a:t>
            </a:r>
            <a:endParaRPr/>
          </a:p>
        </p:txBody>
      </p:sp>
      <p:sp>
        <p:nvSpPr>
          <p:cNvPr id="325" name="Google Shape;325;p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