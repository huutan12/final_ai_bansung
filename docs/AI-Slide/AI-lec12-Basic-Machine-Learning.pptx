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f11fd61cf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f11fd61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f11fd61cf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f11fd61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f11fd61cf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f11fd61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6f11fd61cf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6f11fd61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f11fd61cf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f11fd61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f11fd61cf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f11fd61c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f11fd61cf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f11fd61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f11fd61cf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f11fd61c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11fd61cf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f11fd61c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f11fd61cf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f11fd61c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f11fd61cf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f11fd61c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f11fd61cf_0_9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f11fd61c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f11fd61cf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f11fd61c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f11fd61cf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6f11fd61c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f11fd61cf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f11fd61c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f11fd61cf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f11fd61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f11fd61cf_0_1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6f11fd61c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f11fd61cf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f11fd61c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f11fd61cf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f11fd61c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f11fd61cf_0_1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f11fd61c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f11fd61cf_0_1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f11fd61c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f11fd61cf_0_1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f11fd61c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6f11fd61cf_0_1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6f11fd61c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f11fd61cf_0_1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6f11fd61c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ad52817f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ad52817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ad52817f1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ad52817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6f11fd61cf_0_2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6f11fd61c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f11fd61cf_0_2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f11fd61c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6f11fd61cf_0_2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6f11fd61c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6f11fd61cf_0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6f11fd61c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f11fd61cf_0_2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6f11fd61c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f11fd61cf_0_2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6f11fd61cf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f11fd61cf_0_2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6f11fd61c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6f11fd61cf_0_2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6f11fd61cf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6f11fd61cf_0_2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6f11fd61cf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f11fd61cf_0_29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6f11fd61c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6f11fd61cf_0_3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6f11fd61cf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6f11fd61cf_0_3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6f11fd61cf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6f11fd61cf_0_3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6f11fd61cf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6f11fd61cf_0_3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6f11fd61cf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f11fd61cf_0_3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6f11fd61c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47228a4b6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47228a4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6: Machine Learning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colab.research.google.com/drive/1h3ko36kuTCQ90YGq90WvOigbDPBwFGVO?usp=drive_link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12: Basic 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Introduction to Machine Learning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ID3 Decision Tree Learning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Naïve Bayesian Learning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Machine learning involves adaptive mechanisms that enable computers to learn from experience, learn by example, and learn by analogy.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654317"/>
            <a:ext cx="8167659" cy="496103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00" y="1578100"/>
            <a:ext cx="8091199" cy="50516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Learn a function that maps an input to an output based on example input-output pairs.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Example,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Spam detection: Decide which emails are spam and which are important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Object detection and recognition: Localize and identify instances of semantic objects of a certain class (e.g., humans, buildings, or cars) in digital images and videos.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675" y="1614549"/>
            <a:ext cx="7724649" cy="29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575" y="4545175"/>
            <a:ext cx="4575148" cy="231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vs. Regression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Classification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Train a model to predict a categorical dependent variable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Case studies: predicting disease, classifying images, predicting customer churn, buy or won’t buy, etc.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Binary classification vs. Multiclass classification vs. Multilabel classification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Regression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Train a model to predict a continuous dependent variable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Case studies: predicting height of children, predicting sales, forecasting stock prices, etc.</a:t>
            </a:r>
            <a:endParaRPr/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Infer a function to describe hidden structure from "unlabeled" data.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Example,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Social network analysis: cluster users of social networks by interest (community detection)</a:t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Semi-supervised learning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model is initially trained with a small amount of labeled data and a large amount of unlabeled data.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agent learns from the environment by interacting with it and receives rewards for performing actions.</a:t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600" y="2755450"/>
            <a:ext cx="6148800" cy="29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50" y="1729592"/>
            <a:ext cx="8600710" cy="4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25" y="1661667"/>
            <a:ext cx="8543545" cy="455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 Learning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decision is based on the following attributes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Alternate: is there an alternative restaurant nearby?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Bar: is there a comfortable bar area to wait in?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Fri/Sat: is today Friday or Saturday?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Hungry: are we hungry?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Patrons: number of people in the restaurant (None, Some, Full)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Price: price range ($, $$, $$$)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Raining: is it raining outside?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Reservation: have we made a reservation?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Type: kind of restaurant (French, Italian, Thai, Burger)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/>
              <a:t>WaitEstimate: estimated waiting time (0-10, 10-30, 30-60, &gt;60)</a:t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 Learning</a:t>
            </a:r>
            <a:endParaRPr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50" y="1661667"/>
            <a:ext cx="8830102" cy="455595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 Learning</a:t>
            </a:r>
            <a:endParaRPr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38" y="1545992"/>
            <a:ext cx="7662920" cy="519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Divide and conquer: Split data into smaller and smaller subsets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Splits usually on a single variable</a:t>
            </a:r>
            <a:endParaRPr/>
          </a:p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187" y="2607425"/>
            <a:ext cx="4007625" cy="36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remaining examples are all positive (or all negative)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DONE, it is possible to answer Yes or No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There are some positive and some negative examples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choose the “best” attribute to split them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examples left at a branch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return a default value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attributes left but both positive and negative examples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→ return the plurality classification of remaining ones.</a:t>
            </a:r>
            <a:endParaRPr/>
          </a:p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Decision Tree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DECISION-TREE-LEARNING (𝑒𝑥𝑎𝑚𝑝𝑙𝑒𝑠, 𝑎𝑡𝑡𝑟𝑖𝑏𝑢𝑡𝑒𝑠, 𝑝𝑎𝑟𝑒𝑛𝑡 𝑒𝑥𝑎𝑚𝑝𝑙𝑒𝑠) </a:t>
            </a:r>
            <a:r>
              <a:rPr b="1" lang="en"/>
              <a:t>returns</a:t>
            </a:r>
            <a:r>
              <a:rPr lang="en"/>
              <a:t> a tree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𝑒𝑥𝑎𝑚𝑝𝑙𝑒𝑠 is empty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PLURALITY-VALUE(𝑝𝑎𝑟𝑒𝑛𝑡 𝑒𝑥𝑎𝑚𝑝𝑙𝑒𝑠)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else</a:t>
            </a:r>
            <a:r>
              <a:rPr lang="en"/>
              <a:t> </a:t>
            </a:r>
            <a:r>
              <a:rPr b="1" lang="en"/>
              <a:t>if</a:t>
            </a:r>
            <a:r>
              <a:rPr lang="en"/>
              <a:t> all 𝑒𝑥𝑎𝑚𝑝𝑙𝑒𝑠 have the same classification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the classification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else</a:t>
            </a:r>
            <a:r>
              <a:rPr lang="en"/>
              <a:t> </a:t>
            </a:r>
            <a:r>
              <a:rPr b="1" lang="en"/>
              <a:t>if</a:t>
            </a:r>
            <a:r>
              <a:rPr lang="en"/>
              <a:t> 𝑎𝑡𝑡𝑟𝑖𝑏𝑢𝑡𝑒𝑠 is empty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PLURALITY-VALUE(𝑒𝑥𝑎𝑚𝑝𝑙𝑒𝑠)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else</a:t>
            </a:r>
            <a:endParaRPr b="1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𝐴 ← 𝑎𝑟𝑔𝑚𝑎𝑥</a:t>
            </a:r>
            <a:r>
              <a:rPr baseline="-25000" lang="en"/>
              <a:t>𝑎 </a:t>
            </a:r>
            <a:r>
              <a:rPr baseline="-25000" lang="en"/>
              <a:t>∈ 𝑎𝑡𝑡𝑟𝑖𝑏𝑢𝑡𝑒𝑠</a:t>
            </a:r>
            <a:r>
              <a:rPr b="1" lang="en">
                <a:solidFill>
                  <a:srgbClr val="FF0000"/>
                </a:solidFill>
              </a:rPr>
              <a:t>IMPORTANCE</a:t>
            </a:r>
            <a:r>
              <a:rPr lang="en"/>
              <a:t>(𝑎, 𝑒𝑥𝑎𝑚𝑝𝑙𝑒𝑠)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𝑡𝑟𝑒𝑒 ← a new decision tree with root test A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value 𝑣</a:t>
            </a:r>
            <a:r>
              <a:rPr baseline="-25000" lang="en"/>
              <a:t>𝑘</a:t>
            </a:r>
            <a:r>
              <a:rPr lang="en"/>
              <a:t> of A do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𝑒𝑥𝑠 ← {𝑒∶ 𝑒 ∈ 𝑒𝑥𝑎𝑚𝑝𝑙𝑒𝑠 and 𝑒.𝐴 = 𝑣</a:t>
            </a:r>
            <a:r>
              <a:rPr baseline="-25000" lang="en"/>
              <a:t>𝑘</a:t>
            </a:r>
            <a:r>
              <a:rPr lang="en"/>
              <a:t>}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𝑠𝑢𝑏𝑡𝑟𝑒𝑒 ← DECISION-TREE-LEARNING(𝑒𝑥𝑠, 𝑎𝑡𝑡𝑟𝑖𝑏𝑢𝑡𝑒𝑠−𝐴, 𝑒𝑥𝑎𝑚𝑝𝑙𝑒𝑠)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branch to 𝑡𝑟𝑒𝑒 with label (𝐴 = 𝑣</a:t>
            </a:r>
            <a:r>
              <a:rPr baseline="-25000" lang="en"/>
              <a:t>𝑘</a:t>
            </a:r>
            <a:r>
              <a:rPr lang="en"/>
              <a:t>) and subtree 𝑠𝑢𝑏𝑡𝑟𝑒𝑒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𝑡𝑟𝑒𝑒</a:t>
            </a:r>
            <a:endParaRPr/>
          </a:p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purity measure with entropy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Entropy is a measure of the uncertainty of a random variable 𝑉 with values 𝑣</a:t>
            </a:r>
            <a:r>
              <a:rPr baseline="-25000" lang="en"/>
              <a:t>𝑘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𝑣</a:t>
            </a:r>
            <a:r>
              <a:rPr baseline="-25000" lang="en"/>
              <a:t>𝑘</a:t>
            </a:r>
            <a:r>
              <a:rPr lang="en"/>
              <a:t> is a class in 𝑉 (e.g., yes/no in binary classification)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𝑃(𝑣</a:t>
            </a:r>
            <a:r>
              <a:rPr baseline="-25000" lang="en"/>
              <a:t>𝑘</a:t>
            </a:r>
            <a:r>
              <a:rPr lang="en"/>
              <a:t>) is the proportion of the number of elements in class 𝑣</a:t>
            </a:r>
            <a:r>
              <a:rPr baseline="-25000" lang="en"/>
              <a:t>𝑘</a:t>
            </a:r>
            <a:r>
              <a:rPr lang="en"/>
              <a:t> to the number of elements in 𝑉.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538" y="2632675"/>
            <a:ext cx="6802927" cy="9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purity measure with entropy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Entropy is maximal when all possibilities are equally likely.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Entropy is zero in a pure “yes” (or pure “no”) node.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Decision tree aims to decrease the entropy in each node.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Entropy</a:t>
            </a:r>
            <a:endParaRPr/>
          </a:p>
        </p:txBody>
      </p:sp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75" y="1599242"/>
            <a:ext cx="8491041" cy="455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Gain</a:t>
            </a:r>
            <a:endParaRPr/>
          </a:p>
        </p:txBody>
      </p:sp>
      <p:sp>
        <p:nvSpPr>
          <p:cNvPr id="225" name="Google Shape;22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5467"/>
            <a:ext cx="8839198" cy="404316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Gain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IG(Alternate, S) = 0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IG(Bar, S) = 0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IG(Sat/Fri?, S) = 0.021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IG(Hungry, S) = 0.196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IG(Raining, S) = 0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IG(Reservation, S) = 0.021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IG(Patron, S) = 0.541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IG(Price, S) = 0.23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IG(Type, S) = 0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IG(Est. waiting time, S) = 0.208</a:t>
            </a:r>
            <a:endParaRPr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Learning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Largest Information Gain (0.541) / Smallest Entropy (0.459) achieved by splitting on Patrons.</a:t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413" y="2566475"/>
            <a:ext cx="4913176" cy="35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9" name="Google Shape;2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625" y="1958037"/>
            <a:ext cx="5790748" cy="294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sklearn.tree </a:t>
            </a:r>
            <a:r>
              <a:rPr b="1" lang="en" sz="16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DecisionTreeClassifier, plot_tree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b="1" lang="en" sz="16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b="1" sz="28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df = pd.DataFrame(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[{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6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 b="1" sz="28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clf = DecisionTreeClassifier()</a:t>
            </a:r>
            <a:endParaRPr b="1" sz="16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clf.fit(df[[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]], df[</a:t>
            </a:r>
            <a:r>
              <a:rPr b="1" lang="en" sz="16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8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plot_tree(clf)</a:t>
            </a:r>
            <a:endParaRPr b="1" sz="2800"/>
          </a:p>
        </p:txBody>
      </p:sp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63" name="Google Shape;263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13" y="1907592"/>
            <a:ext cx="49053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classification</a:t>
            </a:r>
            <a:endParaRPr/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statistical classifier performs probabilistic prediction, i.e., predicts class membership probabilities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Foundation: Based on Bayes’ Theorem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838" y="2886600"/>
            <a:ext cx="7078325" cy="374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Bayes’ Theorem</a:t>
            </a:r>
            <a:endParaRPr/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Total Probability Theorem: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Let 𝐗 be a data sample (“evidence”) with unknown class label and 𝐻 be a hypothesis that 𝐗 belongs to class 𝐶.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Bayes’ Theorem: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Classification is to determine 𝑃(𝐻 | 𝐗), i.e. the probability that the hypothesis 𝐻 holds given the observed data sample 𝐗.</a:t>
            </a:r>
            <a:endParaRPr/>
          </a:p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163" y="2059925"/>
            <a:ext cx="332014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950" y="3850775"/>
            <a:ext cx="3174101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data set</a:t>
            </a:r>
            <a:endParaRPr/>
          </a:p>
        </p:txBody>
      </p:sp>
      <p:sp>
        <p:nvSpPr>
          <p:cNvPr id="288" name="Google Shape;288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9" name="Google Shape;28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73" y="1546000"/>
            <a:ext cx="8061650" cy="53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Bayes’ Theorem</a:t>
            </a:r>
            <a:endParaRPr/>
          </a:p>
        </p:txBody>
      </p:sp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𝑷(𝑯) (prior probability): the initial probability</a:t>
            </a:r>
            <a:endParaRPr/>
          </a:p>
          <a:p>
            <a:pPr indent="-3683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𝐗 will buy computer, regardless of age, income, ...</a:t>
            </a:r>
            <a:endParaRPr/>
          </a:p>
          <a:p>
            <a:pPr indent="-3683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𝑃(𝐗) : the probability that sample data is observed</a:t>
            </a:r>
            <a:endParaRPr/>
          </a:p>
          <a:p>
            <a:pPr indent="-3683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𝐗 is 31..40 and has a medium income, regardless of the buying</a:t>
            </a:r>
            <a:endParaRPr/>
          </a:p>
          <a:p>
            <a:pPr indent="-3683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𝑃(𝐗 | 𝐻) (likelihood): the probability of observing the sample 𝐗, given that the hypothesis holds</a:t>
            </a:r>
            <a:endParaRPr/>
          </a:p>
          <a:p>
            <a:pPr indent="-3683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Given that 𝐗 will buy computer, the probability that 𝐗 is 31..40 and has a medium income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E.g., given that 𝐗 is 31..40 and has a medium income, the probability that 𝐗 will buy computer</a:t>
            </a:r>
            <a:endParaRPr/>
          </a:p>
        </p:txBody>
      </p:sp>
      <p:sp>
        <p:nvSpPr>
          <p:cNvPr id="297" name="Google Shape;297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75" y="4803600"/>
            <a:ext cx="3143236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Bayes’ Theorem</a:t>
            </a:r>
            <a:endParaRPr/>
          </a:p>
        </p:txBody>
      </p:sp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Informally,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𝑝𝑜𝑠𝑡𝑒𝑟𝑖𝑜𝑟𝑖 = 𝑙𝑖𝑘𝑒𝑙𝑖h𝑜𝑜𝑑 ∗ 𝑝𝑟𝑖𝑜𝑟 / 𝑒𝑣𝑖𝑑𝑒𝑛𝑐𝑒 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𝐗 belongs to 𝐶</a:t>
            </a:r>
            <a:r>
              <a:rPr baseline="-25000" lang="en"/>
              <a:t>i</a:t>
            </a:r>
            <a:r>
              <a:rPr lang="en"/>
              <a:t> iff the probability 𝑃(𝐶</a:t>
            </a:r>
            <a:r>
              <a:rPr baseline="-25000" lang="en"/>
              <a:t>i</a:t>
            </a:r>
            <a:r>
              <a:rPr lang="en"/>
              <a:t> | 𝐗) is the highest among all the 𝑃(𝐶</a:t>
            </a:r>
            <a:r>
              <a:rPr baseline="-25000" lang="en"/>
              <a:t>𝑘</a:t>
            </a:r>
            <a:r>
              <a:rPr lang="en"/>
              <a:t> | 𝐗) for all the 𝑘 classes.</a:t>
            </a:r>
            <a:endParaRPr/>
          </a:p>
        </p:txBody>
      </p:sp>
      <p:sp>
        <p:nvSpPr>
          <p:cNvPr id="305" name="Google Shape;305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6" name="Google Shape;30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288" y="1796275"/>
            <a:ext cx="3697425" cy="8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with Bayes’ Theorem</a:t>
            </a:r>
            <a:endParaRPr/>
          </a:p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Let 𝐷 be a training set of tuples and associated class labels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tuple is represented by a 𝑛-attribute 𝐗 = (𝑥</a:t>
            </a:r>
            <a:r>
              <a:rPr baseline="-25000" lang="en"/>
              <a:t>1</a:t>
            </a:r>
            <a:r>
              <a:rPr lang="en"/>
              <a:t>, 𝑥</a:t>
            </a:r>
            <a:r>
              <a:rPr baseline="-25000" lang="en"/>
              <a:t>2</a:t>
            </a:r>
            <a:r>
              <a:rPr lang="en"/>
              <a:t>, ... , 𝑥</a:t>
            </a:r>
            <a:r>
              <a:rPr baseline="-25000" lang="en"/>
              <a:t>𝑛</a:t>
            </a:r>
            <a:r>
              <a:rPr lang="en"/>
              <a:t>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Suppose there are 𝑚 classes 𝐶</a:t>
            </a:r>
            <a:r>
              <a:rPr baseline="-25000" lang="en"/>
              <a:t>1</a:t>
            </a:r>
            <a:r>
              <a:rPr lang="en"/>
              <a:t>, 𝐶</a:t>
            </a:r>
            <a:r>
              <a:rPr baseline="-25000" lang="en"/>
              <a:t>2</a:t>
            </a:r>
            <a:r>
              <a:rPr lang="en"/>
              <a:t>,..., 𝐶</a:t>
            </a:r>
            <a:r>
              <a:rPr baseline="-25000" lang="en"/>
              <a:t>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Classification is to derive the maximum posteriori 𝑃(𝐶</a:t>
            </a:r>
            <a:r>
              <a:rPr baseline="-25000" lang="en"/>
              <a:t>i</a:t>
            </a:r>
            <a:r>
              <a:rPr lang="en"/>
              <a:t> | 𝐗) from Bayes’ theorem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𝑃(𝑋) is constant for all classes, only 𝑃(𝐗|𝐶</a:t>
            </a:r>
            <a:r>
              <a:rPr baseline="-25000" lang="en"/>
              <a:t>i</a:t>
            </a:r>
            <a:r>
              <a:rPr lang="en"/>
              <a:t>)𝑃(𝐶</a:t>
            </a:r>
            <a:r>
              <a:rPr baseline="-25000" lang="en"/>
              <a:t>i</a:t>
            </a:r>
            <a:r>
              <a:rPr lang="en"/>
              <a:t>) needs to be maximized.</a:t>
            </a:r>
            <a:endParaRPr/>
          </a:p>
        </p:txBody>
      </p:sp>
      <p:sp>
        <p:nvSpPr>
          <p:cNvPr id="313" name="Google Shape;313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4" name="Google Shape;31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438" y="3599375"/>
            <a:ext cx="3915126" cy="10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aïve Bayesian classifier</a:t>
            </a:r>
            <a:endParaRPr/>
          </a:p>
        </p:txBody>
      </p:sp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Class-conditional independence: </a:t>
            </a:r>
            <a:r>
              <a:rPr b="1" lang="en" u="sng"/>
              <a:t>There are no dependence relationships among the attributes</a:t>
            </a:r>
            <a:r>
              <a:rPr lang="en"/>
              <a:t>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naïve Bayesian classification formula is written as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75" y="2803474"/>
            <a:ext cx="8744651" cy="10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63" y="3923500"/>
            <a:ext cx="7751275" cy="200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aive Bayesian for the example dataset</a:t>
            </a:r>
            <a:endParaRPr/>
          </a:p>
        </p:txBody>
      </p:sp>
      <p:sp>
        <p:nvSpPr>
          <p:cNvPr id="329" name="Google Shape;329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0" name="Google Shape;3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578117"/>
            <a:ext cx="8167658" cy="489373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Bayesian for the example dataset</a:t>
            </a:r>
            <a:endParaRPr/>
          </a:p>
        </p:txBody>
      </p:sp>
      <p:sp>
        <p:nvSpPr>
          <p:cNvPr id="337" name="Google Shape;337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8" name="Google Shape;3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75" y="1593325"/>
            <a:ext cx="8077451" cy="50590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the zero-probability problem</a:t>
            </a:r>
            <a:endParaRPr/>
          </a:p>
        </p:txBody>
      </p:sp>
      <p:sp>
        <p:nvSpPr>
          <p:cNvPr id="345" name="Google Shape;345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605667"/>
            <a:ext cx="8167660" cy="48807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the zero-probability problem</a:t>
            </a:r>
            <a:endParaRPr/>
          </a:p>
        </p:txBody>
      </p:sp>
      <p:sp>
        <p:nvSpPr>
          <p:cNvPr id="353" name="Google Shape;353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Laplacian correction (or Laplacian estimator)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where 𝑚 is the number of classes, |𝑥</a:t>
            </a:r>
            <a:r>
              <a:rPr baseline="-25000" lang="en"/>
              <a:t>k </a:t>
            </a:r>
            <a:r>
              <a:rPr lang="en"/>
              <a:t>∪ 𝐶</a:t>
            </a:r>
            <a:r>
              <a:rPr baseline="-25000" lang="en"/>
              <a:t>i</a:t>
            </a:r>
            <a:r>
              <a:rPr lang="en"/>
              <a:t>| denotes the number of tuples contains both 𝐴</a:t>
            </a:r>
            <a:r>
              <a:rPr baseline="-25000" lang="en"/>
              <a:t>k </a:t>
            </a:r>
            <a:r>
              <a:rPr lang="en"/>
              <a:t>= 𝑥</a:t>
            </a:r>
            <a:r>
              <a:rPr baseline="-25000" lang="en"/>
              <a:t>k</a:t>
            </a:r>
            <a:r>
              <a:rPr lang="en"/>
              <a:t> and 𝐶</a:t>
            </a:r>
            <a:r>
              <a:rPr baseline="-25000" lang="en"/>
              <a:t>i</a:t>
            </a:r>
            <a:r>
              <a:rPr lang="en"/>
              <a:t>, and 𝑟 is the number of values of attribute 𝐴</a:t>
            </a:r>
            <a:r>
              <a:rPr baseline="-25000" lang="en"/>
              <a:t>𝑘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“corrected” probability estimates are close to their “uncorrected” counterparts.</a:t>
            </a:r>
            <a:endParaRPr/>
          </a:p>
        </p:txBody>
      </p:sp>
      <p:sp>
        <p:nvSpPr>
          <p:cNvPr id="354" name="Google Shape;354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63" y="2096225"/>
            <a:ext cx="6734076" cy="9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aive Bayesian for the example dataset</a:t>
            </a:r>
            <a:endParaRPr/>
          </a:p>
        </p:txBody>
      </p:sp>
      <p:sp>
        <p:nvSpPr>
          <p:cNvPr id="361" name="Google Shape;361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75" y="1605675"/>
            <a:ext cx="8320052" cy="492391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Bayesian for the example dataset</a:t>
            </a:r>
            <a:endParaRPr/>
          </a:p>
        </p:txBody>
      </p:sp>
      <p:sp>
        <p:nvSpPr>
          <p:cNvPr id="369" name="Google Shape;369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0" name="Google Shape;37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25" y="1565800"/>
            <a:ext cx="7876148" cy="50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values</a:t>
            </a:r>
            <a:endParaRPr/>
          </a:p>
        </p:txBody>
      </p:sp>
      <p:sp>
        <p:nvSpPr>
          <p:cNvPr id="377" name="Google Shape;377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the values of some attributes are missing, these attributes are omitted from the product of probabilities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As a result, the estimation is less accurate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 example,</a:t>
            </a:r>
            <a:endParaRPr/>
          </a:p>
        </p:txBody>
      </p:sp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379" name="Google Shape;37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38" y="3219449"/>
            <a:ext cx="8262713" cy="9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85" name="Google Shape;385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6" name="Google Shape;38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151" y="1638750"/>
            <a:ext cx="5997701" cy="299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93" name="Google Shape;393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394" name="Google Shape;394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401" name="Google Shape;401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