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bedf57b2bb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bedf57b2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bedf57b2bb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bedf57b2b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edf57b2bb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edf57b2b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bedf57b2bb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bedf57b2b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bedf57b2bb_0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bedf57b2b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bedf57b2bb_0_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bedf57b2b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bedf57b2bb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bedf57b2b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edf57b2bb_0_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bedf57b2b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bedf57b2bb_0_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bedf57b2b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bedf57b2bb_0_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bedf57b2b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bedf57b2bb_0_1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bedf57b2b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edf57b2bb_0_1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edf57b2b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bedf57b2bb_0_1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bedf57b2b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edf57b2bb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bedf57b2b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bedf57b2bb_0_1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bedf57b2b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bedf57b2bb_0_1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bedf57b2b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bedf57b2bb_0_1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bedf57b2b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bedf57b2bb_0_1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bedf57b2b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edf57b2bb_0_1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edf57b2b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edf57b2bb_0_2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edf57b2b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bedf57b2bb_0_2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bedf57b2b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bedf57b2bb_0_2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bedf57b2b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5ba3baae_4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a5ba3baa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697648313b_0_1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697648313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2: Problem solving by searching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drive.google.com/file/d/13j9uUET7H9Sr0pZCDEGSnOv64RtOQCQe/view" TargetMode="External"/><Relationship Id="rId4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olab.research.google.com/drive/1dAgVapN0oXikb6WEsgAQKXm-Jy3KTggM?usp=drive_link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5: Informed Search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Informed Search Strategies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Best-first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Greedy Best-first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A*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Heuristic Dominance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Informed search strategies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Use problem-specific knowledge beyond the definition of the problem itself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Find solutions more efficiently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Provide significant speed-up in practice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heuristics?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Additional knowledge of the problem is imparted to the search algorithm using heuristics.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heuristic is any practical approach to problem solving sufficient for reaching an immediate goal where an optimal solution is usually impossible.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Not guaranteed to be optimal, perfect, logical, or rational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Speed up the process of finding a satisfactory solution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Ease the cognitive load of making a decision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heuristics?</a:t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94350"/>
            <a:ext cx="4923649" cy="264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4">
            <a:alphaModFix/>
          </a:blip>
          <a:srcRect b="0" l="0" r="4031" t="0"/>
          <a:stretch/>
        </p:blipFill>
        <p:spPr>
          <a:xfrm>
            <a:off x="3837200" y="4236300"/>
            <a:ext cx="4923650" cy="24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Best-first search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 instance of the general TREE-SEARCH or GRAPH- SEARCH algorithm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node is selected for expansion based on an evaluation function, 𝒇(𝒏).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Node with the lowest 𝑓(𝑛) is expanded first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choice of 𝑓 determines the search strategy.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 function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h(n) → </a:t>
            </a:r>
            <a:r>
              <a:rPr lang="en"/>
              <a:t>estimated cost of the cheapest path from the state at node 𝑛 to a goal.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Unlike 𝑔(𝑛), h(𝑛) depends only on the state at that node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Assumption of h(𝑛)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Arbitrary, non-negative, problem-specific functions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Constraint: if 𝑛 is a goal node, then 𝒉(𝒏) = 𝟎</a:t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g(n) vs h(n)</a:t>
            </a:r>
            <a:endParaRPr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436325" y="40499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</a:t>
            </a:r>
            <a:endParaRPr sz="2400"/>
          </a:p>
        </p:txBody>
      </p:sp>
      <p:sp>
        <p:nvSpPr>
          <p:cNvPr id="114" name="Google Shape;114;p20"/>
          <p:cNvSpPr/>
          <p:nvPr/>
        </p:nvSpPr>
        <p:spPr>
          <a:xfrm>
            <a:off x="4202300" y="23550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</a:t>
            </a:r>
            <a:endParaRPr sz="2400"/>
          </a:p>
        </p:txBody>
      </p:sp>
      <p:sp>
        <p:nvSpPr>
          <p:cNvPr id="115" name="Google Shape;115;p20"/>
          <p:cNvSpPr/>
          <p:nvPr/>
        </p:nvSpPr>
        <p:spPr>
          <a:xfrm>
            <a:off x="7531975" y="3939425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cxnSp>
        <p:nvCxnSpPr>
          <p:cNvPr id="116" name="Google Shape;116;p20"/>
          <p:cNvCxnSpPr>
            <a:stCxn id="113" idx="7"/>
            <a:endCxn id="114" idx="2"/>
          </p:cNvCxnSpPr>
          <p:nvPr/>
        </p:nvCxnSpPr>
        <p:spPr>
          <a:xfrm rot="-5400000">
            <a:off x="2120141" y="2124884"/>
            <a:ext cx="1315200" cy="2849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7" name="Google Shape;117;p20"/>
          <p:cNvCxnSpPr>
            <a:stCxn id="114" idx="6"/>
            <a:endCxn id="115" idx="0"/>
          </p:cNvCxnSpPr>
          <p:nvPr/>
        </p:nvCxnSpPr>
        <p:spPr>
          <a:xfrm>
            <a:off x="5276300" y="2892000"/>
            <a:ext cx="2792700" cy="1047300"/>
          </a:xfrm>
          <a:prstGeom prst="curvedConnector2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8" name="Google Shape;118;p20"/>
          <p:cNvSpPr txBox="1"/>
          <p:nvPr/>
        </p:nvSpPr>
        <p:spPr>
          <a:xfrm>
            <a:off x="324425" y="517987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g(S) = 0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7420075" y="5123900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</a:t>
            </a:r>
            <a:r>
              <a:rPr lang="en" sz="2200">
                <a:solidFill>
                  <a:srgbClr val="FF0000"/>
                </a:solidFill>
              </a:rPr>
              <a:t>(S) = 0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32065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g(n)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48916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</a:t>
            </a:r>
            <a:r>
              <a:rPr lang="en" sz="2200">
                <a:solidFill>
                  <a:srgbClr val="FF0000"/>
                </a:solidFill>
              </a:rPr>
              <a:t>(n)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3836750" y="3844325"/>
            <a:ext cx="18051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UCS</a:t>
            </a:r>
            <a:endParaRPr sz="2200">
              <a:solidFill>
                <a:srgbClr val="99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f(n) = g(n)</a:t>
            </a:r>
            <a:endParaRPr sz="2200">
              <a:solidFill>
                <a:srgbClr val="9900FF"/>
              </a:solidFill>
            </a:endParaRPr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Greedy best-first search</a:t>
            </a:r>
            <a:endParaRPr/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436325" y="40499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</a:t>
            </a:r>
            <a:endParaRPr sz="2400"/>
          </a:p>
        </p:txBody>
      </p:sp>
      <p:sp>
        <p:nvSpPr>
          <p:cNvPr id="131" name="Google Shape;131;p21"/>
          <p:cNvSpPr/>
          <p:nvPr/>
        </p:nvSpPr>
        <p:spPr>
          <a:xfrm>
            <a:off x="4202300" y="23550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</a:t>
            </a:r>
            <a:endParaRPr sz="2400"/>
          </a:p>
        </p:txBody>
      </p:sp>
      <p:sp>
        <p:nvSpPr>
          <p:cNvPr id="132" name="Google Shape;132;p21"/>
          <p:cNvSpPr/>
          <p:nvPr/>
        </p:nvSpPr>
        <p:spPr>
          <a:xfrm>
            <a:off x="7531975" y="3939425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cxnSp>
        <p:nvCxnSpPr>
          <p:cNvPr id="133" name="Google Shape;133;p21"/>
          <p:cNvCxnSpPr>
            <a:stCxn id="130" idx="7"/>
            <a:endCxn id="131" idx="2"/>
          </p:cNvCxnSpPr>
          <p:nvPr/>
        </p:nvCxnSpPr>
        <p:spPr>
          <a:xfrm rot="-5400000">
            <a:off x="2120141" y="2124884"/>
            <a:ext cx="1315200" cy="2849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4" name="Google Shape;134;p21"/>
          <p:cNvCxnSpPr>
            <a:stCxn id="131" idx="6"/>
            <a:endCxn id="132" idx="0"/>
          </p:cNvCxnSpPr>
          <p:nvPr/>
        </p:nvCxnSpPr>
        <p:spPr>
          <a:xfrm>
            <a:off x="5276300" y="2892000"/>
            <a:ext cx="2792700" cy="1047300"/>
          </a:xfrm>
          <a:prstGeom prst="curvedConnector2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5" name="Google Shape;135;p21"/>
          <p:cNvSpPr txBox="1"/>
          <p:nvPr/>
        </p:nvSpPr>
        <p:spPr>
          <a:xfrm>
            <a:off x="324425" y="517987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g(S) = 0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7420075" y="5123900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h(S) = 0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32065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g(n)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48916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h(n)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3836750" y="3844325"/>
            <a:ext cx="18051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GBFS</a:t>
            </a:r>
            <a:endParaRPr sz="2200">
              <a:solidFill>
                <a:srgbClr val="99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f(n) = h(n)</a:t>
            </a:r>
            <a:endParaRPr sz="2200">
              <a:solidFill>
                <a:srgbClr val="9900FF"/>
              </a:solidFill>
            </a:endParaRPr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Straight-line distance heuristic</a:t>
            </a:r>
            <a:endParaRPr/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8383"/>
          <a:stretch/>
        </p:blipFill>
        <p:spPr>
          <a:xfrm>
            <a:off x="0" y="1689326"/>
            <a:ext cx="9144000" cy="44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Greedy best-first 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the search tree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Determine the path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Compute the path-cost</a:t>
            </a:r>
            <a:endParaRPr/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Greedy best-first search: Evaluation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Completeness: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 – may get stuck forever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Time complexity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𝑂(𝑏</a:t>
            </a:r>
            <a:r>
              <a:rPr baseline="30000" lang="en"/>
              <a:t>𝑚</a:t>
            </a:r>
            <a:r>
              <a:rPr lang="en"/>
              <a:t>) → reduced substantially with a good heuristic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Space complexity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𝑂(𝑏</a:t>
            </a:r>
            <a:r>
              <a:rPr baseline="30000" lang="en"/>
              <a:t>𝑚</a:t>
            </a:r>
            <a:r>
              <a:rPr lang="en"/>
              <a:t>) – keeps all nodes in memory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Optimality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</a:t>
            </a:r>
            <a:endParaRPr/>
          </a:p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most widely known form of best-first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Evaluate nodes by𝒇(𝒏) = 𝒈(𝒏) + 𝒉(𝒏)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𝑔</a:t>
            </a:r>
            <a:r>
              <a:rPr lang="en"/>
              <a:t>(𝑛) is the cost to reach the node 𝑛 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</a:t>
            </a:r>
            <a:r>
              <a:rPr lang="en"/>
              <a:t>(𝑛) is the cost to get from 𝑛 to the goal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𝑓(𝑛) = estimated cost of the cheapest solution through 𝑛</a:t>
            </a:r>
            <a:endParaRPr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</a:t>
            </a:r>
            <a:endParaRPr/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436325" y="40499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</a:t>
            </a:r>
            <a:endParaRPr sz="2400"/>
          </a:p>
        </p:txBody>
      </p:sp>
      <p:sp>
        <p:nvSpPr>
          <p:cNvPr id="177" name="Google Shape;177;p26"/>
          <p:cNvSpPr/>
          <p:nvPr/>
        </p:nvSpPr>
        <p:spPr>
          <a:xfrm>
            <a:off x="4202300" y="23550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</a:t>
            </a:r>
            <a:endParaRPr sz="2400"/>
          </a:p>
        </p:txBody>
      </p:sp>
      <p:sp>
        <p:nvSpPr>
          <p:cNvPr id="178" name="Google Shape;178;p26"/>
          <p:cNvSpPr/>
          <p:nvPr/>
        </p:nvSpPr>
        <p:spPr>
          <a:xfrm>
            <a:off x="7531975" y="3939425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cxnSp>
        <p:nvCxnSpPr>
          <p:cNvPr id="179" name="Google Shape;179;p26"/>
          <p:cNvCxnSpPr>
            <a:stCxn id="176" idx="7"/>
            <a:endCxn id="177" idx="2"/>
          </p:cNvCxnSpPr>
          <p:nvPr/>
        </p:nvCxnSpPr>
        <p:spPr>
          <a:xfrm rot="-5400000">
            <a:off x="2120141" y="2124884"/>
            <a:ext cx="1315200" cy="2849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0" name="Google Shape;180;p26"/>
          <p:cNvCxnSpPr>
            <a:stCxn id="177" idx="6"/>
            <a:endCxn id="178" idx="0"/>
          </p:cNvCxnSpPr>
          <p:nvPr/>
        </p:nvCxnSpPr>
        <p:spPr>
          <a:xfrm>
            <a:off x="5276300" y="2892000"/>
            <a:ext cx="2792700" cy="1047300"/>
          </a:xfrm>
          <a:prstGeom prst="curvedConnector2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81" name="Google Shape;181;p26"/>
          <p:cNvSpPr txBox="1"/>
          <p:nvPr/>
        </p:nvSpPr>
        <p:spPr>
          <a:xfrm>
            <a:off x="324425" y="517987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g(S) = 0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7420075" y="5123900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h(S) = 0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32065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g(n)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48916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h(n)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3541050" y="3844325"/>
            <a:ext cx="2353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A*</a:t>
            </a:r>
            <a:endParaRPr sz="2200">
              <a:solidFill>
                <a:srgbClr val="99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f(n) = g(n) + h(n)</a:t>
            </a:r>
            <a:endParaRPr sz="2200">
              <a:solidFill>
                <a:srgbClr val="9900FF"/>
              </a:solidFill>
            </a:endParaRPr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</a:t>
            </a:r>
            <a:endParaRPr/>
          </a:p>
        </p:txBody>
      </p:sp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 rotWithShape="1">
          <a:blip r:embed="rId3">
            <a:alphaModFix/>
          </a:blip>
          <a:srcRect b="0" l="0" r="0" t="8383"/>
          <a:stretch/>
        </p:blipFill>
        <p:spPr>
          <a:xfrm>
            <a:off x="0" y="1689326"/>
            <a:ext cx="9144000" cy="44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the search tree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Determine the path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Compute the path-cost</a:t>
            </a:r>
            <a:endParaRPr/>
          </a:p>
        </p:txBody>
      </p:sp>
      <p:sp>
        <p:nvSpPr>
          <p:cNvPr id="201" name="Google Shape;201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search: Evaluation</a:t>
            </a:r>
            <a:endParaRPr/>
          </a:p>
        </p:txBody>
      </p:sp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Completeness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YES if all step costs exceed some finite 𝜖 and if 𝑏 is finite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(review the condition for completeness of UCS)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Optimality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YES – with conditions on heuristic being used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Time complexity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Exponential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Space complexity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Exponential (keep all nodes in memory)</a:t>
            </a:r>
            <a:endParaRPr/>
          </a:p>
        </p:txBody>
      </p:sp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 is not always optimal</a:t>
            </a:r>
            <a:endParaRPr/>
          </a:p>
        </p:txBody>
      </p:sp>
      <p:sp>
        <p:nvSpPr>
          <p:cNvPr id="214" name="Google Shape;214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" name="Google Shape;2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75" y="2013594"/>
            <a:ext cx="8472450" cy="368181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Heuristic: Admissibility</a:t>
            </a:r>
            <a:endParaRPr/>
          </a:p>
        </p:txBody>
      </p:sp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h(𝑛) must be an admissible heuristic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Never overestimate the cost to reach the goal → optimistic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E.g: Euclidean distance, Manhattan distance, straight-line distance, etc.</a:t>
            </a:r>
            <a:endParaRPr/>
          </a:p>
        </p:txBody>
      </p: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24" name="Google Shape;22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525" y="3488712"/>
            <a:ext cx="3548300" cy="27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1"/>
          <p:cNvPicPr preferRelativeResize="0"/>
          <p:nvPr/>
        </p:nvPicPr>
        <p:blipFill rotWithShape="1">
          <a:blip r:embed="rId4">
            <a:alphaModFix/>
          </a:blip>
          <a:srcRect b="7250" l="0" r="0" t="14796"/>
          <a:stretch/>
        </p:blipFill>
        <p:spPr>
          <a:xfrm>
            <a:off x="4813123" y="3488700"/>
            <a:ext cx="3507852" cy="27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Heuristic: Admissibility</a:t>
            </a:r>
            <a:endParaRPr/>
          </a:p>
        </p:txBody>
      </p:sp>
      <p:sp>
        <p:nvSpPr>
          <p:cNvPr id="231" name="Google Shape;231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h(𝑛) is admissible, A* using TREE-SEARCH is optimal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Suppose some suboptimal goal 𝐺2 has been generated and is in the frontier.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Let 𝑛 be an unexpanded node in the frontier such that 𝑛 is on a shortest path to an optimal goal 𝐺.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𝑓(𝐺2) = 𝑔(𝐺2) since h(𝐺2) = 0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𝑔(𝐺2) &gt; 𝑔(𝐺) since G2 is suboptimal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𝑓(𝐺) = 𝑔(𝐺) since h(G) = 0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⇒ 𝑓(𝐺2) &gt; 𝑓(𝐺) (1)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h(𝑛) ≤ h*(𝑛) since h is admissible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𝑔(𝑛) + h(𝑛) ≤ 𝑔(𝑛) + h*(𝑛) ⇒ 𝑓(𝑛) ≤ 𝑓(𝐺) (2)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800"/>
              <a:t>From (1), (2): 𝑓(𝐺2) &gt; 𝑓(𝑛) → A* will never select 𝐺2 for expansion</a:t>
            </a:r>
            <a:endParaRPr i="1" sz="1800"/>
          </a:p>
        </p:txBody>
      </p:sp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400" y="3099562"/>
            <a:ext cx="4143900" cy="2099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Heuristic: Consistency</a:t>
            </a:r>
            <a:endParaRPr/>
          </a:p>
        </p:txBody>
      </p:sp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Admissibility is insufficient for graph search.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optimal path to a repeated state could be discard if it is not the first one selected.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h(𝑛) is consistent if for every node 𝑛, every successor 𝑛′ of 𝑛 generated by any action 𝑎,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𝒉(𝒏) ≤ 𝒄(𝒏, 𝒂, 𝒏′) + 𝒉(𝒏′)</a:t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Every consistent heuristic is also admissible.</a:t>
            </a:r>
            <a:endParaRPr/>
          </a:p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41" name="Google Shape;24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5277" y="3541050"/>
            <a:ext cx="2425873" cy="27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Heuristic: Consistency</a:t>
            </a:r>
            <a:endParaRPr/>
          </a:p>
        </p:txBody>
      </p:sp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h(𝑛) is consistent, A* using GRAPH-SEARCH is optimal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If h(𝑛) is consistent, the values of 𝑓(𝑛) along any path are non-decreasing.</a:t>
            </a:r>
            <a:endParaRPr i="1" sz="18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Suppose 𝑛′ is a successor of 𝑛→𝑔(𝑛′) = 𝑔(𝑛) + 𝑐(𝑛,𝑎,𝑛′)</a:t>
            </a:r>
            <a:endParaRPr i="1" sz="18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𝑓</a:t>
            </a:r>
            <a:r>
              <a:rPr i="1" lang="en" sz="1800"/>
              <a:t>(𝑛′) = 𝑔(𝑛′) + h(𝑛′) = 𝑔(𝑛) + 𝑐(𝑛,𝑎,𝑛′) + h(𝑛′) ≥ 𝑔(𝑛) + h(𝑛) = 𝑓(𝑛)</a:t>
            </a:r>
            <a:endParaRPr i="1"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800"/>
              <a:t>Whenever A* selects a node 𝑛 for expansion, the optimal path to that node has been found.</a:t>
            </a:r>
            <a:endParaRPr i="1" sz="1800"/>
          </a:p>
        </p:txBody>
      </p:sp>
      <p:sp>
        <p:nvSpPr>
          <p:cNvPr id="248" name="Google Shape;248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Contours of A* search</a:t>
            </a:r>
            <a:endParaRPr/>
          </a:p>
        </p:txBody>
      </p: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A* expands nodes in order of increasing 𝑓-value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A* will expand all nodes with costs 𝑓(𝑛) &lt; 𝐶*</a:t>
            </a:r>
            <a:endParaRPr/>
          </a:p>
        </p:txBody>
      </p:sp>
      <p:sp>
        <p:nvSpPr>
          <p:cNvPr id="255" name="Google Shape;255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56" name="Google Shape;25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000" y="2452450"/>
            <a:ext cx="6851976" cy="41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 dominance</a:t>
            </a:r>
            <a:endParaRPr/>
          </a:p>
        </p:txBody>
      </p:sp>
      <p:sp>
        <p:nvSpPr>
          <p:cNvPr id="262" name="Google Shape;262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Given two </a:t>
            </a:r>
            <a:r>
              <a:rPr b="1" i="1" lang="en"/>
              <a:t>admissible</a:t>
            </a:r>
            <a:r>
              <a:rPr lang="en"/>
              <a:t> heuristics, h1 and h2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h2(𝑛) ≥ h1(𝑛), for all 𝑛, then h2 dominates h1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A* using h2 will never expand more nodes than A* using h1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Better to use a heuristic function with higher values, provided it is consistent and its computation time is not too long.</a:t>
            </a:r>
            <a:endParaRPr/>
          </a:p>
        </p:txBody>
      </p:sp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269" name="Google Shape;269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0" name="Google Shape;270;p37" title="AI-lec05-ucs-asta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9493" y="0"/>
            <a:ext cx="394501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77" name="Google Shape;277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r>
              <a:rPr lang="en"/>
              <a:t>.</a:t>
            </a:r>
            <a:endParaRPr/>
          </a:p>
        </p:txBody>
      </p:sp>
      <p:sp>
        <p:nvSpPr>
          <p:cNvPr id="278" name="Google Shape;278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84" name="Google Shape;284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285" name="Google Shape;285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