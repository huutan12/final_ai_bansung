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9A4CF1-3F90-4DCA-9D12-52B41CF1D914}">
  <a:tblStyle styleId="{A59A4CF1-3F90-4DCA-9D12-52B41CF1D9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9e7b1b4ff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9e7b1b4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9e7b1b4ff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9e7b1b4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9e7b1b4ff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9e7b1b4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9e7b1b4ff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9e7b1b4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9e7b1b4ff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9e7b1b4f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9e7b1b4ff_0_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9e7b1b4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9e7b1b4ff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9e7b1b4f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9e7b1b4ff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9e7b1b4f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9e7b1b4ff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9e7b1b4f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9e7b1b4ff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9e7b1b4f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9e7b1b4ff_0_1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9e7b1b4f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9e7b1b4ff_0_1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9e7b1b4f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9e7b1b4ff_0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9e7b1b4f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9e7b1b4ff_0_1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9e7b1b4f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9e7b1b4ff_0_1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c9e7b1b4f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9e7b1b4ff_0_1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9e7b1b4f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9e7b1b4ff_0_1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9e7b1b4f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9e7b1b4ff_0_2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c9e7b1b4f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9e7b1b4ff_0_2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c9e7b1b4f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9e7b1b4ff_0_2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9e7b1b4f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c9e7b1b4ff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c9e7b1b4f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9e7b1b4ff_0_2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9e7b1b4f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9e7b1b4ff_0_2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9e7b1b4f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9e7b1b4ff_0_2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c9e7b1b4f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9e7b1b4ff_0_2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c9e7b1b4ff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c9e7b1b4ff_0_2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c9e7b1b4ff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9e7b1b4ff_0_2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c9e7b1b4f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c9e7b1b4ff_0_3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c9e7b1b4f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c9e7b1b4ff_0_3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c9e7b1b4f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c9e7b1b4ff_0_3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c9e7b1b4f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9e7b1b4ff_0_3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c9e7b1b4f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9e7b1b4ff_0_3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c9e7b1b4f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c9e7b1b4ff_0_3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c9e7b1b4f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c9e7b1b4ff_0_3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c9e7b1b4f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9e7b1b4ff_0_3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c9e7b1b4ff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c9e7b1b4ff_0_3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c9e7b1b4f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c9e7b1b4ff_0_3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c9e7b1b4ff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c9e7b1b4ff_0_3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c9e7b1b4ff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c9e7b1b4ff_0_4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c9e7b1b4ff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c9e7b1b4ff_0_4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c9e7b1b4ff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c9e7b1b4ff_0_4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c9e7b1b4f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c9e7b1b4ff_0_4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c9e7b1b4ff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c9e7b1b4ff_0_4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c9e7b1b4ff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c9e7b1b4ff_0_4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c9e7b1b4ff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c9e7b1b4ff_0_4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c9e7b1b4ff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c9e7b1b4ff_0_4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c9e7b1b4f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c9e7b1b4ff_0_4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c9e7b1b4ff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abb36d18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cabb36d1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47301eee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47301e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4: Logical Agents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colab.research.google.com/drive/1Bwktp-dr0sZ5W1a77XlZtoyMvd0fReL3?usp=drive_link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9: Logical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Knowledge-Based Agents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Logic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Propositional Logic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Propositional Theorem Proving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Effective Propositional Model Checking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Knowledge-based agents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Supported by logic – a general class of representation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Combine and recombine information to suit myriad purposes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Knowledge base (KB): A set of sentences or facts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sentence represents some assertion about the world.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Axiom = the sentence that is not derived from other sentences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Inference: Derive (infer) new sentences from old ones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Add new sentences to the knowledge base and query what is known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Knowledge-based agents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KB-AGENT(percept) </a:t>
            </a:r>
            <a:r>
              <a:rPr b="1" lang="en"/>
              <a:t>returns</a:t>
            </a:r>
            <a:r>
              <a:rPr lang="en"/>
              <a:t> an action</a:t>
            </a:r>
            <a:endParaRPr/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persistent</a:t>
            </a:r>
            <a:r>
              <a:rPr lang="en"/>
              <a:t>: KB, a knowledge base</a:t>
            </a:r>
            <a:endParaRPr/>
          </a:p>
          <a:p>
            <a:pPr indent="457200" lvl="0" marL="13716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t, a counter, initially 0, indicating time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TELL(KB, MAKE-PERCEPT-SENTENCE(percept, t))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action ← ASK(KB, MAKE-ACTION-QUERY(t))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TELL(KB, MAKE-ACTION-SENTENCE(action, t))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 ← t + 1</a:t>
            </a:r>
            <a:endParaRPr/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action</a:t>
            </a:r>
            <a:endParaRPr/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u="sng"/>
              <a:t>Inference mechanisms are hidden inside TELL and ASK</a:t>
            </a:r>
            <a:endParaRPr b="1" i="1" u="sng"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Logics are formal languages for representing information such that conclusions can be drawn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Syntax defines the well-formed sentences in the language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Semantics define the "meaning" of sentences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Models</a:t>
            </a:r>
            <a:r>
              <a:rPr lang="en"/>
              <a:t> are mathematical abstractions that fix the truth or falsehood of every relevant sentence.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𝑚 satisfies (or is a model of) 𝛼 if 𝛼 is true in model 𝑚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𝑀(𝛼) = the set of all models of 𝛼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Entailment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sentence follows logically from another sentence: 𝜶 ⊨ 𝜷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𝜶 ⊨𝜷 if and only if, in every model in which 𝜶 is true, 𝜷 is also true.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𝑀(𝛼) ⊆ 𝑀(𝛽)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𝑥 = 0 entails 𝑥𝑦 = 0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Entailment is a relationship between sentences that is based on semantics.</a:t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inference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𝐾𝐵 ⊨</a:t>
            </a:r>
            <a:r>
              <a:rPr baseline="-25000" lang="en"/>
              <a:t>𝑖</a:t>
            </a:r>
            <a:r>
              <a:rPr lang="en"/>
              <a:t> 𝛼 means 𝛼 can be derived from 𝐾𝐵 by procedure 𝑖.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Soundness: 𝑖 is sound if whenever 𝐾𝐵 ⊨</a:t>
            </a:r>
            <a:r>
              <a:rPr baseline="-25000" lang="en"/>
              <a:t>𝑖</a:t>
            </a:r>
            <a:r>
              <a:rPr lang="en"/>
              <a:t> 𝛼, it is also true that 𝐾𝐵 ⊨ 𝛼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Completeness: 𝑖 is complete if whenever 𝐾𝐵 ⊨ 𝛼, it is also true that 𝐾𝐵 ⊨</a:t>
            </a:r>
            <a:r>
              <a:rPr baseline="-25000" lang="en"/>
              <a:t>𝑖</a:t>
            </a:r>
            <a:r>
              <a:rPr lang="en"/>
              <a:t> 𝛼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and representation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reasoning agent gets its knowledge about the facts of the world as a sequence of logical sentences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Conclusions must be drawn only from those → without agent’s independent access to the world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Thus it is very important that the agent’s reasoning is sound.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Propositional Logic: Syntax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Propositional logic: the simplest logic illustrating basic ideas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Constants: TRUE or FALSE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Symbols stand for propositions (sentences): 𝑃, 𝑄, 𝑊, etc.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Logical connectives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Literal: atomic sentence (P) or negated atomic sentence (</a:t>
            </a:r>
            <a:r>
              <a:rPr b="1" lang="en" sz="1700"/>
              <a:t>¬</a:t>
            </a:r>
            <a:r>
              <a:rPr lang="en"/>
              <a:t>P)</a:t>
            </a:r>
            <a:endParaRPr/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9" name="Google Shape;119;p21"/>
          <p:cNvGraphicFramePr/>
          <p:nvPr/>
        </p:nvGraphicFramePr>
        <p:xfrm>
          <a:off x="1139313" y="320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{A59A4CF1-3F90-4DCA-9D12-52B41CF1D914}</a:tableStyleId>
              </a:tblPr>
              <a:tblGrid>
                <a:gridCol w="2288450"/>
                <a:gridCol w="1414450"/>
                <a:gridCol w="3162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¬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Negation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AND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∧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Conjunction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OR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∨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Disjunction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IMPLIES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⇒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Implication (if..then)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IFF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⟺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Equivalence, biconditional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Propositional Logic: Syntax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1806350"/>
            <a:ext cx="84201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model specifies true/false for each proposition symbol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197525"/>
            <a:ext cx="84201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inference procedure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Given: a set of sentences, 𝑲𝑩, and sentence 𝜶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Goal: answer 𝑲𝑩 ⊨ 𝜶? = “Does 𝑲𝑩 semantically entail 𝜶?”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Approaches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Model-checking approach (Inference by enumeration)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Inference rules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Conversion to the inverse SAT problem (Resolution refutation)</a:t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Model-checking approach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Check if 𝛼 is true in every model in which 𝐾𝐵 is true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a truth table for checking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13" y="2445525"/>
            <a:ext cx="87915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by (depth-first) enumeration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function</a:t>
            </a:r>
            <a:r>
              <a:rPr lang="en" sz="2000"/>
              <a:t> TT-ENTAILS?(KB, α) </a:t>
            </a:r>
            <a:r>
              <a:rPr b="1" lang="en" sz="2000"/>
              <a:t>returns</a:t>
            </a:r>
            <a:r>
              <a:rPr lang="en" sz="2000"/>
              <a:t> true or false</a:t>
            </a:r>
            <a:endParaRPr sz="20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inputs</a:t>
            </a:r>
            <a:r>
              <a:rPr lang="en" sz="2000"/>
              <a:t>: KB, the knowledge base, a sentence in propositional logic</a:t>
            </a:r>
            <a:endParaRPr sz="2000"/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α, the query, a sentence in propositional logic</a:t>
            </a:r>
            <a:endParaRPr sz="20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symbols</a:t>
            </a:r>
            <a:r>
              <a:rPr lang="en" sz="2000"/>
              <a:t> ← a list of the proposition symbols in KB and α</a:t>
            </a:r>
            <a:endParaRPr sz="20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return</a:t>
            </a:r>
            <a:r>
              <a:rPr lang="en" sz="2000"/>
              <a:t> TT-CHECK-ALL(KB, α, </a:t>
            </a:r>
            <a:r>
              <a:rPr i="1" lang="en" sz="2000"/>
              <a:t>symbols</a:t>
            </a:r>
            <a:r>
              <a:rPr lang="en" sz="2000"/>
              <a:t>, { })</a:t>
            </a:r>
            <a:endParaRPr sz="20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function</a:t>
            </a:r>
            <a:r>
              <a:rPr lang="en" sz="2000"/>
              <a:t> TT-CHECK-ALL(KB, α, symbols, model) </a:t>
            </a:r>
            <a:r>
              <a:rPr b="1" lang="en" sz="2000"/>
              <a:t>returns</a:t>
            </a:r>
            <a:r>
              <a:rPr lang="en" sz="2000"/>
              <a:t> true or false</a:t>
            </a:r>
            <a:endParaRPr sz="20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if</a:t>
            </a:r>
            <a:r>
              <a:rPr lang="en" sz="2000"/>
              <a:t> EMPTY?(</a:t>
            </a:r>
            <a:r>
              <a:rPr i="1" lang="en" sz="2000"/>
              <a:t>symbols</a:t>
            </a:r>
            <a:r>
              <a:rPr lang="en" sz="2000"/>
              <a:t>) </a:t>
            </a:r>
            <a:r>
              <a:rPr b="1" lang="en" sz="2000"/>
              <a:t>then</a:t>
            </a:r>
            <a:endParaRPr b="1" sz="20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if</a:t>
            </a:r>
            <a:r>
              <a:rPr lang="en" sz="2000"/>
              <a:t> PL-TRUE?(KB, model) </a:t>
            </a:r>
            <a:r>
              <a:rPr b="1" lang="en" sz="2000"/>
              <a:t>then</a:t>
            </a:r>
            <a:r>
              <a:rPr lang="en" sz="2000"/>
              <a:t> </a:t>
            </a:r>
            <a:r>
              <a:rPr b="1" lang="en" sz="2000"/>
              <a:t>return</a:t>
            </a:r>
            <a:r>
              <a:rPr lang="en" sz="2000"/>
              <a:t> PL-TRUE?(α, model)</a:t>
            </a:r>
            <a:endParaRPr sz="20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else</a:t>
            </a:r>
            <a:r>
              <a:rPr lang="en" sz="2000"/>
              <a:t> </a:t>
            </a:r>
            <a:r>
              <a:rPr b="1" lang="en" sz="2000"/>
              <a:t>return</a:t>
            </a:r>
            <a:r>
              <a:rPr lang="en" sz="2000"/>
              <a:t> true // when KB is false, always return true</a:t>
            </a:r>
            <a:endParaRPr sz="20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else do</a:t>
            </a:r>
            <a:endParaRPr b="1" sz="20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	</a:t>
            </a:r>
            <a:r>
              <a:rPr lang="en" sz="2000"/>
              <a:t>P ← FIRST(symbols)</a:t>
            </a:r>
            <a:endParaRPr b="1" sz="20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rest ← REST(</a:t>
            </a:r>
            <a:r>
              <a:rPr i="1" lang="en" sz="2000"/>
              <a:t>symbols</a:t>
            </a:r>
            <a:r>
              <a:rPr lang="en" sz="2000"/>
              <a:t>)</a:t>
            </a:r>
            <a:endParaRPr sz="20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return</a:t>
            </a:r>
            <a:r>
              <a:rPr lang="en" sz="2000"/>
              <a:t> (TT-CHECK-ALL(KB,α,rest,model ∪ {P = true})</a:t>
            </a:r>
            <a:endParaRPr sz="2000"/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and</a:t>
            </a:r>
            <a:r>
              <a:rPr lang="en" sz="2000"/>
              <a:t> TT-CHECK-ALL(KB,α,rest,model ∪ {P = false}))</a:t>
            </a:r>
            <a:endParaRPr sz="2000"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Model-checking approach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Given a KB containing the following rules and facts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R1: IF hot AND smoky THEN fire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R2: IF alarm_beeps THEN smoky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R3: IF fire THEN sprinklers_on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F1: alarm_beeps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F2: hot</a:t>
            </a:r>
            <a:endParaRPr/>
          </a:p>
          <a:p>
            <a:pPr indent="-357823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Represent the KB in propositional logic with given symbols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 = hot, S = smoky, F = fire, A = alarms_beeps,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 = sprinklers_on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Answer the question “Sprinklers_on?” by using the model- checking approach.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rules approach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Theorem proving: Apply rules of inference directly to the sentences in KB to construct a proof of the desired sentence without consulting models</a:t>
            </a:r>
            <a:endParaRPr/>
          </a:p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equivalence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Two sentences 𝛼 and 𝛽 are logically equivalent if they are true in the same set of models.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𝜶 ≡ 𝜷 𝒊𝒇𝒇 𝜶 ⊨ 𝜷 𝒂𝒏𝒅 𝜷 ⊨ 𝜶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837" y="2930525"/>
            <a:ext cx="7116325" cy="37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Validity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sentence is valid if it is true in all models.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Valid sentences are also known as tautologies.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 Validity is connected to inference via the Deduction Theorem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𝛼 ⊨ 𝛽 𝑖𝑓𝑓 𝛼 ⇒ 𝛽 𝑖𝑠 𝑣𝑎𝑙𝑖𝑑</a:t>
            </a:r>
            <a:endParaRPr b="1"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Satisfiability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sentence is satisfiable if it is true in some model.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sentence is unsatisfiable if it is true in no models.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Satisfiability is connected to inference via the following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𝛼 ⊨ 𝛽 𝑖𝑓𝑓 𝛼 ∧ ¬𝛽 𝑖𝑠 𝑢𝑛𝑠𝑎𝑡𝑖𝑠𝑓𝑖𝑎𝑏𝑙𝑒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Refutation or proof by contradiction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SAT problem determines the satisfiability of sentences in propositional logic (NP-complete).</a:t>
            </a:r>
            <a:endParaRPr/>
          </a:p>
        </p:txBody>
      </p:sp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Validity and </a:t>
            </a:r>
            <a:r>
              <a:rPr lang="en"/>
              <a:t>Satisfiability</a:t>
            </a:r>
            <a:r>
              <a:rPr lang="en"/>
              <a:t>	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𝐴 ∨ 𝐵 ⇒ 𝐴 ∧ 𝐶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𝐴 ∧ 𝐵 ⇒ 𝐴 ∨ 𝐶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(𝐴 ∨ 𝐵) ∧ (¬𝐵 ∨ 𝐶) ⇒ 𝐴 ∨ 𝐶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 (𝐴 ∨ ¬𝐵) ⇒ 𝐴 ∧ 𝐵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and Proofs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Proof: A chain of conclusions leads to the desired goal</a:t>
            </a:r>
            <a:endParaRPr/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75" y="2434775"/>
            <a:ext cx="84010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and Proofs</a:t>
            </a:r>
            <a:endParaRPr/>
          </a:p>
        </p:txBody>
      </p:sp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" y="1796038"/>
            <a:ext cx="861060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Monotonicity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</a:t>
            </a:r>
            <a:r>
              <a:rPr lang="en"/>
              <a:t>he set of entailed sentences only increases as information is added to the knowledge base.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𝑖𝑓 𝐾𝐵 ⊨ 𝛼 </a:t>
            </a:r>
            <a:r>
              <a:rPr b="1" lang="en"/>
              <a:t>𝑡h</a:t>
            </a:r>
            <a:r>
              <a:rPr b="1" lang="en"/>
              <a:t>𝑒𝑛 𝐾𝐵 ∧ 𝛽 ⊨ 𝛼</a:t>
            </a:r>
            <a:endParaRPr b="1"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Additional conclusions can be drawn without invalidating any conclusion 𝛼 already inferred.</a:t>
            </a:r>
            <a:endParaRPr/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Proof by Inference Rules: sound but not complete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Resolution: sound and complete, a single inference rule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Given 𝑙</a:t>
            </a:r>
            <a:r>
              <a:rPr baseline="-25000" lang="en"/>
              <a:t>𝑖</a:t>
            </a:r>
            <a:r>
              <a:rPr lang="en"/>
              <a:t> and 𝑚 are complementary literals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Unit resolution inference rule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Full resolution rule</a:t>
            </a:r>
            <a:endParaRPr/>
          </a:p>
        </p:txBody>
      </p:sp>
      <p:sp>
        <p:nvSpPr>
          <p:cNvPr id="229" name="Google Shape;229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by Resolution</a:t>
            </a:r>
            <a:endParaRPr/>
          </a:p>
        </p:txBody>
      </p:sp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024" y="3107600"/>
            <a:ext cx="3371725" cy="12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325" y="5093125"/>
            <a:ext cx="7330597" cy="12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by Resolution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88" y="1617363"/>
            <a:ext cx="7820025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by Resolution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Factoring: the resulting clause should contain only one copy of each literal.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 any sentences 𝛼 and 𝛽 in propositional logic, a resolution-based theorem prover can decide whether 𝛼 ⊨ 𝛽.</a:t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Conjunctive Normal Form (CNF)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Resolution applies only to clauses, i.e. disjunctions of literals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Convert all sentences in KB into clauses (CNF form)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 example, convert A ⇔ (B </a:t>
            </a:r>
            <a:r>
              <a:rPr b="1" lang="en" sz="1700"/>
              <a:t>∨ </a:t>
            </a:r>
            <a:r>
              <a:rPr lang="en"/>
              <a:t>C) into CNF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(¬A ∨ B ∨ C) ∧ (¬B ∨ A) ∧ (¬C ∨ A )</a:t>
            </a:r>
            <a:endParaRPr/>
          </a:p>
        </p:txBody>
      </p:sp>
      <p:sp>
        <p:nvSpPr>
          <p:cNvPr id="254" name="Google Shape;254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to CNF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Eliminate ⇔: 𝛼 ⇔ 𝛽 ≡ 𝛼 ⇒𝛽 ∧ 𝛽 ⇒ 𝛼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Eliminate ⇒: 𝛼 ⇒ 𝛽 ≡ ¬𝛼 ∨ 𝛽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operator ¬ appears only in literals: “move ¬ inwards”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¬¬𝛼 ≡ 𝛼 (double-negation elimination)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¬(𝛼 ∧ 𝛽) ≡ ¬𝛼 ∨ ¬𝛽 (De Morgan)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¬(𝛼 ∨ 𝛽) ≡ ¬𝛼 ∧ ¬𝛽 (De Morgan)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Apply the distributivity law to distribute ∨ over ∧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(𝛼 ∧ 𝛽) ∨ 𝛾 ≡ (𝛼 ∨ 𝛾) ∧ (𝛽 ∨ 𝛾)</a:t>
            </a:r>
            <a:endParaRPr/>
          </a:p>
        </p:txBody>
      </p:sp>
      <p:sp>
        <p:nvSpPr>
          <p:cNvPr id="261" name="Google Shape;261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Proof by contradiction: To show that 𝐾𝐵 ⊨ 𝛼, prove 𝐾𝐵 ∧ ¬𝛼 is unsatisfiable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92"/>
              <a:t>function</a:t>
            </a:r>
            <a:r>
              <a:rPr lang="en" sz="1692"/>
              <a:t> PL-RESOLUTION(KB, α) </a:t>
            </a:r>
            <a:r>
              <a:rPr b="1" lang="en" sz="1692"/>
              <a:t>returns</a:t>
            </a:r>
            <a:r>
              <a:rPr lang="en" sz="1692"/>
              <a:t> true or false</a:t>
            </a:r>
            <a:endParaRPr sz="1692"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2"/>
              <a:t>inputs</a:t>
            </a:r>
            <a:r>
              <a:rPr lang="en" sz="1692"/>
              <a:t>: KB, the knowledge base, a sentence in propositional logic</a:t>
            </a:r>
            <a:endParaRPr sz="1692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    α, the query, a sentence in propositional logic</a:t>
            </a:r>
            <a:endParaRPr sz="1692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clauses ← the set of clauses in the CNF representation of KB ∧ ¬α</a:t>
            </a:r>
            <a:endParaRPr sz="1692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new ← { }</a:t>
            </a:r>
            <a:endParaRPr sz="1692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2"/>
              <a:t>loop do</a:t>
            </a:r>
            <a:endParaRPr b="1" sz="1692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2"/>
              <a:t>for</a:t>
            </a:r>
            <a:r>
              <a:rPr lang="en" sz="1692"/>
              <a:t> </a:t>
            </a:r>
            <a:r>
              <a:rPr b="1" lang="en" sz="1692"/>
              <a:t>each</a:t>
            </a:r>
            <a:r>
              <a:rPr lang="en" sz="1692"/>
              <a:t> pair of clauses C</a:t>
            </a:r>
            <a:r>
              <a:rPr baseline="-25000" lang="en" sz="1692"/>
              <a:t>i</a:t>
            </a:r>
            <a:r>
              <a:rPr lang="en" sz="1692"/>
              <a:t>, C</a:t>
            </a:r>
            <a:r>
              <a:rPr baseline="-25000" lang="en" sz="1692"/>
              <a:t>j</a:t>
            </a:r>
            <a:r>
              <a:rPr lang="en" sz="1692"/>
              <a:t> </a:t>
            </a:r>
            <a:r>
              <a:rPr b="1" lang="en" sz="1692"/>
              <a:t>in</a:t>
            </a:r>
            <a:r>
              <a:rPr lang="en" sz="1692"/>
              <a:t> clauses </a:t>
            </a:r>
            <a:r>
              <a:rPr b="1" lang="en" sz="1692"/>
              <a:t>do</a:t>
            </a:r>
            <a:endParaRPr b="1" sz="1692"/>
          </a:p>
          <a:p>
            <a:pPr indent="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resolvents ← PL-RESOLVE(C</a:t>
            </a:r>
            <a:r>
              <a:rPr baseline="-25000" lang="en" sz="1692"/>
              <a:t>i</a:t>
            </a:r>
            <a:r>
              <a:rPr lang="en" sz="1692"/>
              <a:t> , C</a:t>
            </a:r>
            <a:r>
              <a:rPr baseline="-25000" lang="en" sz="1692"/>
              <a:t>j</a:t>
            </a:r>
            <a:r>
              <a:rPr lang="en" sz="1692"/>
              <a:t>)</a:t>
            </a:r>
            <a:endParaRPr sz="1692"/>
          </a:p>
          <a:p>
            <a:pPr indent="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2"/>
              <a:t>if</a:t>
            </a:r>
            <a:r>
              <a:rPr lang="en" sz="1692"/>
              <a:t> resolvents contains the empty clause </a:t>
            </a:r>
            <a:r>
              <a:rPr b="1" lang="en" sz="1692"/>
              <a:t>then</a:t>
            </a:r>
            <a:r>
              <a:rPr lang="en" sz="1692"/>
              <a:t> </a:t>
            </a:r>
            <a:r>
              <a:rPr b="1" lang="en" sz="1692"/>
              <a:t>return</a:t>
            </a:r>
            <a:r>
              <a:rPr lang="en" sz="1692"/>
              <a:t> true</a:t>
            </a:r>
            <a:endParaRPr sz="1692"/>
          </a:p>
          <a:p>
            <a:pPr indent="0" lvl="0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new ← new ∪ resolvents</a:t>
            </a:r>
            <a:endParaRPr sz="1692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2"/>
              <a:t>if</a:t>
            </a:r>
            <a:r>
              <a:rPr lang="en" sz="1692"/>
              <a:t> new ⊆ clauses </a:t>
            </a:r>
            <a:r>
              <a:rPr b="1" lang="en" sz="1692"/>
              <a:t>then</a:t>
            </a:r>
            <a:r>
              <a:rPr lang="en" sz="1692"/>
              <a:t> </a:t>
            </a:r>
            <a:r>
              <a:rPr b="1" lang="en" sz="1692"/>
              <a:t>return</a:t>
            </a:r>
            <a:r>
              <a:rPr lang="en" sz="1692"/>
              <a:t> false</a:t>
            </a:r>
            <a:endParaRPr sz="1692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92"/>
              <a:t>clauses ← clauses ∪ new</a:t>
            </a:r>
            <a:endParaRPr sz="1692"/>
          </a:p>
        </p:txBody>
      </p:sp>
      <p:sp>
        <p:nvSpPr>
          <p:cNvPr id="267" name="Google Shape;267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resolution algorithm</a:t>
            </a:r>
            <a:endParaRPr/>
          </a:p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Horn clauses and Definite clauses</a:t>
            </a:r>
            <a:endParaRPr/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Definite clause: a disjunction of literals of which exactly one is positive.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Horn clause: a disjunction of literals of which at most one is positive.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 clause: clauses with no positive literals</a:t>
            </a:r>
            <a:endParaRPr/>
          </a:p>
        </p:txBody>
      </p:sp>
      <p:sp>
        <p:nvSpPr>
          <p:cNvPr id="275" name="Google Shape;275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KB of definite clauses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KB containing only definite clauses are interesting.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Every definite clause can be written as an implication.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Inference can be done with forward-chaining and backward- chaining algorithms.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Deciding entailment can be done in linear time.</a:t>
            </a:r>
            <a:endParaRPr/>
          </a:p>
        </p:txBody>
      </p:sp>
      <p:sp>
        <p:nvSpPr>
          <p:cNvPr id="282" name="Google Shape;282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chaining</a:t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Key idea: Fire any rule whose premises are satisfied in the KB, add its conclusion to the KB, until the query is found.</a:t>
            </a:r>
            <a:endParaRPr/>
          </a:p>
        </p:txBody>
      </p:sp>
      <p:sp>
        <p:nvSpPr>
          <p:cNvPr id="289" name="Google Shape;289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611" y="2436300"/>
            <a:ext cx="6512775" cy="39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chaining</a:t>
            </a:r>
            <a:endParaRPr/>
          </a:p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PL-FC-ENTAILS?(KB, q) </a:t>
            </a:r>
            <a:r>
              <a:rPr b="1" lang="en"/>
              <a:t>returns</a:t>
            </a:r>
            <a:r>
              <a:rPr lang="en"/>
              <a:t> true or false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inputs</a:t>
            </a:r>
            <a:r>
              <a:rPr lang="en"/>
              <a:t>: KB, the knowledge base, a set of propositional definite clauses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      q, the query, a proposition symbol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← a table, where count[c] is the number of symbols in c’s premise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inferred ← a table, where inferred[s] is initially false for all symbols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← a queue of symbols, initially symbols known to be true in KB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while</a:t>
            </a:r>
            <a:r>
              <a:rPr lang="en"/>
              <a:t> agenda is not empty </a:t>
            </a:r>
            <a:r>
              <a:rPr b="1" lang="en"/>
              <a:t>do</a:t>
            </a:r>
            <a:endParaRPr b="1"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p ← POP(agenda)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p = q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true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inferred[p] = false </a:t>
            </a:r>
            <a:r>
              <a:rPr b="1" lang="en"/>
              <a:t>then</a:t>
            </a:r>
            <a:endParaRPr b="1"/>
          </a:p>
          <a:p>
            <a:pPr indent="457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inferred[p] ← true</a:t>
            </a:r>
            <a:endParaRPr/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clause c </a:t>
            </a:r>
            <a:r>
              <a:rPr b="1" lang="en"/>
              <a:t>in</a:t>
            </a:r>
            <a:r>
              <a:rPr lang="en"/>
              <a:t> KB </a:t>
            </a:r>
            <a:r>
              <a:rPr b="1" lang="en"/>
              <a:t>where</a:t>
            </a:r>
            <a:r>
              <a:rPr lang="en"/>
              <a:t> p is in c.PREMISE </a:t>
            </a:r>
            <a:r>
              <a:rPr b="1" lang="en"/>
              <a:t>do</a:t>
            </a:r>
            <a:endParaRPr b="1"/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decrement</a:t>
            </a:r>
            <a:r>
              <a:rPr lang="en"/>
              <a:t> count[c]</a:t>
            </a:r>
            <a:endParaRPr/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count[c] = 0 </a:t>
            </a:r>
            <a:r>
              <a:rPr b="1" lang="en"/>
              <a:t>then</a:t>
            </a:r>
            <a:r>
              <a:rPr lang="en"/>
              <a:t> add c.CONCLUSION to agenda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false</a:t>
            </a:r>
            <a:endParaRPr/>
          </a:p>
        </p:txBody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chaining</a:t>
            </a:r>
            <a:endParaRPr/>
          </a:p>
        </p:txBody>
      </p:sp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46"/>
          <p:cNvPicPr preferRelativeResize="0"/>
          <p:nvPr/>
        </p:nvPicPr>
        <p:blipFill rotWithShape="1">
          <a:blip r:embed="rId3">
            <a:alphaModFix/>
          </a:blip>
          <a:srcRect b="0" l="12831" r="0" t="0"/>
          <a:stretch/>
        </p:blipFill>
        <p:spPr>
          <a:xfrm>
            <a:off x="0" y="2137325"/>
            <a:ext cx="2478150" cy="35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6650" y="2198113"/>
            <a:ext cx="2308550" cy="33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5725" y="2225923"/>
            <a:ext cx="2256775" cy="33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7225" y="2272870"/>
            <a:ext cx="2256775" cy="324411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chaining</a:t>
            </a:r>
            <a:endParaRPr/>
          </a:p>
        </p:txBody>
      </p:sp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38954"/>
            <a:ext cx="2338500" cy="3410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8500" y="2392351"/>
            <a:ext cx="2192800" cy="33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7850" y="2411637"/>
            <a:ext cx="2239800" cy="326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4200" y="2364275"/>
            <a:ext cx="2239800" cy="3359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Key idea: Work backwards from the query 𝒒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Avoid loops: A new subgoal is already on the goal stack?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Avoid repeated work: A new subgoal has already been proved true, or has already failed?</a:t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32" name="Google Shape;332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3" name="Google Shape;333;p49"/>
          <p:cNvPicPr preferRelativeResize="0"/>
          <p:nvPr/>
        </p:nvPicPr>
        <p:blipFill rotWithShape="1">
          <a:blip r:embed="rId3">
            <a:alphaModFix/>
          </a:blip>
          <a:srcRect b="0" l="2686" r="0" t="4607"/>
          <a:stretch/>
        </p:blipFill>
        <p:spPr>
          <a:xfrm>
            <a:off x="0" y="2046250"/>
            <a:ext cx="4325950" cy="37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050" y="2046251"/>
            <a:ext cx="4325951" cy="3663207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41" name="Google Shape;341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2" name="Google Shape;3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21550"/>
            <a:ext cx="4669925" cy="399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925" y="2361776"/>
            <a:ext cx="4463199" cy="37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50" name="Google Shape;350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1" name="Google Shape;3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4950"/>
            <a:ext cx="4631525" cy="39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1"/>
          <p:cNvPicPr preferRelativeResize="0"/>
          <p:nvPr/>
        </p:nvPicPr>
        <p:blipFill rotWithShape="1">
          <a:blip r:embed="rId4">
            <a:alphaModFix/>
          </a:blip>
          <a:srcRect b="0" l="2018" r="0" t="0"/>
          <a:stretch/>
        </p:blipFill>
        <p:spPr>
          <a:xfrm>
            <a:off x="4631525" y="2045725"/>
            <a:ext cx="4512475" cy="37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59" name="Google Shape;359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03174"/>
            <a:ext cx="4791476" cy="39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8223" y="2103175"/>
            <a:ext cx="4104876" cy="398624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chaining</a:t>
            </a:r>
            <a:endParaRPr/>
          </a:p>
        </p:txBody>
      </p:sp>
      <p:sp>
        <p:nvSpPr>
          <p:cNvPr id="368" name="Google Shape;368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625" y="1677725"/>
            <a:ext cx="7262750" cy="486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vs. Backward chaining</a:t>
            </a:r>
            <a:endParaRPr/>
          </a:p>
        </p:txBody>
      </p:sp>
      <p:sp>
        <p:nvSpPr>
          <p:cNvPr id="376" name="Google Shape;376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Forward chaining: data-driven, automatic, unconscious processing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Backward chaining: goal-driven, good for problem-solving</a:t>
            </a:r>
            <a:endParaRPr/>
          </a:p>
        </p:txBody>
      </p:sp>
      <p:sp>
        <p:nvSpPr>
          <p:cNvPr id="377" name="Google Shape;377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propositional inference</a:t>
            </a:r>
            <a:endParaRPr/>
          </a:p>
        </p:txBody>
      </p:sp>
      <p:sp>
        <p:nvSpPr>
          <p:cNvPr id="383" name="Google Shape;383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SAT problem (checking satisfiability)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Testing entailment, 𝛼 ⊨ 𝛽? = testing unsatisfiability of 𝛼 ∧ ¬𝛽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Two families of efficient algorithms for general propositional inference based on model checking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 backtracking search algorithms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DPLL algorithm (Davis, Putnam, Logemann, Loveland)</a:t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Incomplete local search algorithms(hill-climbing)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WalkSAT algorithm</a:t>
            </a:r>
            <a:endParaRPr/>
          </a:p>
        </p:txBody>
      </p:sp>
      <p:sp>
        <p:nvSpPr>
          <p:cNvPr id="384" name="Google Shape;384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DPLL algorithm</a:t>
            </a:r>
            <a:endParaRPr/>
          </a:p>
        </p:txBody>
      </p:sp>
      <p:sp>
        <p:nvSpPr>
          <p:cNvPr id="390" name="Google Shape;390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Determine whether an input propositional logic sentence (in CNF) is satisfiable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Improvements over truth table enumeration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Early termination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Pure symbol heuristic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3. Unit clause heuristic</a:t>
            </a:r>
            <a:endParaRPr/>
          </a:p>
        </p:txBody>
      </p:sp>
      <p:sp>
        <p:nvSpPr>
          <p:cNvPr id="391" name="Google Shape;391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DPLL algorithm</a:t>
            </a:r>
            <a:endParaRPr/>
          </a:p>
        </p:txBody>
      </p:sp>
      <p:sp>
        <p:nvSpPr>
          <p:cNvPr id="397" name="Google Shape;397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Early termination: A clause is true if any literal is true and a sentence is false if any clause is false.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Pure symbol heuristic: A pure symbol always appears with the same "sign" in all clauses.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Unit clause heuristic: there is only one literal in the clause and thus this literal must be true</a:t>
            </a:r>
            <a:endParaRPr/>
          </a:p>
        </p:txBody>
      </p:sp>
      <p:sp>
        <p:nvSpPr>
          <p:cNvPr id="398" name="Google Shape;398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DPLL algorithm</a:t>
            </a:r>
            <a:endParaRPr/>
          </a:p>
        </p:txBody>
      </p:sp>
      <p:sp>
        <p:nvSpPr>
          <p:cNvPr id="404" name="Google Shape;404;p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DPLL-SATISFIABLE?(s)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returns</a:t>
            </a:r>
            <a:r>
              <a:rPr lang="en"/>
              <a:t> true or false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inputs</a:t>
            </a:r>
            <a:r>
              <a:rPr lang="en"/>
              <a:t>: s, a sentence in propositional logic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clauses ← the set of clauses in the CNF representation of s symbols ← a list of the proposition symbols in s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return</a:t>
            </a:r>
            <a:r>
              <a:rPr lang="en"/>
              <a:t> DPLL(clauses, symbols,{ })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DPLL algorithm</a:t>
            </a:r>
            <a:endParaRPr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function</a:t>
            </a:r>
            <a:r>
              <a:rPr lang="en" sz="1800"/>
              <a:t> DPLL(clauses, symbols, model) </a:t>
            </a:r>
            <a:r>
              <a:rPr b="1" lang="en" sz="1800"/>
              <a:t>returns</a:t>
            </a:r>
            <a:r>
              <a:rPr lang="en" sz="1800"/>
              <a:t> true or false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if</a:t>
            </a:r>
            <a:r>
              <a:rPr lang="en" sz="1800"/>
              <a:t> every clause in clauses is true in model </a:t>
            </a:r>
            <a:r>
              <a:rPr b="1" lang="en" sz="1800"/>
              <a:t>then</a:t>
            </a:r>
            <a:r>
              <a:rPr lang="en" sz="1800"/>
              <a:t> return true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if</a:t>
            </a:r>
            <a:r>
              <a:rPr lang="en" sz="1800"/>
              <a:t> some clauses in clauses are false in model </a:t>
            </a:r>
            <a:r>
              <a:rPr b="1" lang="en" sz="1800"/>
              <a:t>then</a:t>
            </a:r>
            <a:r>
              <a:rPr lang="en" sz="1800"/>
              <a:t> return false</a:t>
            </a:r>
            <a:endParaRPr sz="1800"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P, value ← </a:t>
            </a:r>
            <a:r>
              <a:rPr b="1" lang="en" sz="1800">
                <a:solidFill>
                  <a:srgbClr val="FF0000"/>
                </a:solidFill>
              </a:rPr>
              <a:t>FIND-PURE-SYMBOL</a:t>
            </a:r>
            <a:r>
              <a:rPr lang="en" sz="1800"/>
              <a:t>(symbols, clauses, model)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if</a:t>
            </a:r>
            <a:r>
              <a:rPr lang="en" sz="1800"/>
              <a:t> P is non-null </a:t>
            </a:r>
            <a:r>
              <a:rPr b="1" lang="en" sz="1800"/>
              <a:t>then</a:t>
            </a:r>
            <a:r>
              <a:rPr lang="en" sz="1800"/>
              <a:t> </a:t>
            </a:r>
            <a:r>
              <a:rPr b="1" lang="en" sz="1800"/>
              <a:t>return</a:t>
            </a:r>
            <a:r>
              <a:rPr lang="en" sz="1800"/>
              <a:t> DPLL(clauses, symbols – P, model ∪ {P=value})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P, value ← </a:t>
            </a:r>
            <a:r>
              <a:rPr b="1" lang="en" sz="1800">
                <a:solidFill>
                  <a:srgbClr val="FF0000"/>
                </a:solidFill>
              </a:rPr>
              <a:t>FIND-UNIT-CLAUSE</a:t>
            </a:r>
            <a:r>
              <a:rPr lang="en" sz="1800"/>
              <a:t>(clauses, model)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if</a:t>
            </a:r>
            <a:r>
              <a:rPr lang="en" sz="1800"/>
              <a:t> P is non-null then </a:t>
            </a:r>
            <a:r>
              <a:rPr b="1" lang="en" sz="1800"/>
              <a:t>return</a:t>
            </a:r>
            <a:r>
              <a:rPr lang="en" sz="1800"/>
              <a:t> DPLL(clauses, symbols – P, model ∪ {P=value})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 ← FIRST(symbols)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rest ← REST(symbols)</a:t>
            </a:r>
            <a:endParaRPr sz="18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return</a:t>
            </a:r>
            <a:r>
              <a:rPr lang="en" sz="1800"/>
              <a:t> DPLL(clauses, rest, model ∪ {P=true}) </a:t>
            </a:r>
            <a:endParaRPr sz="1800"/>
          </a:p>
          <a:p>
            <a:pPr indent="457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 DPLL(clauses, rest, model ∪ {P=false}))</a:t>
            </a:r>
            <a:endParaRPr sz="1800"/>
          </a:p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WalkSAT algorithm</a:t>
            </a:r>
            <a:endParaRPr/>
          </a:p>
        </p:txBody>
      </p:sp>
      <p:sp>
        <p:nvSpPr>
          <p:cNvPr id="418" name="Google Shape;418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419" name="Google Shape;419;p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Incomplete, local search algorithm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 function: The min-conflict heuristic of minimizing the number of unsatisfied clauses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Balance between greediness and randomness</a:t>
            </a:r>
            <a:endParaRPr/>
          </a:p>
        </p:txBody>
      </p:sp>
      <p:pic>
        <p:nvPicPr>
          <p:cNvPr id="420" name="Google Shape;4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13" y="3287142"/>
            <a:ext cx="87915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WalkSAT algorithm</a:t>
            </a:r>
            <a:endParaRPr/>
          </a:p>
        </p:txBody>
      </p:sp>
      <p:sp>
        <p:nvSpPr>
          <p:cNvPr id="426" name="Google Shape;426;p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When the algorithm returns a model → The input sentence is indeed satisfiable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When it returns false → The sentence is unsatisfiable OR we need to give it more time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WalkSAT cannot always detect unsatisfiability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It is most useful when a solution is expected to exist</a:t>
            </a:r>
            <a:endParaRPr/>
          </a:p>
        </p:txBody>
      </p:sp>
      <p:sp>
        <p:nvSpPr>
          <p:cNvPr id="427" name="Google Shape;427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PySAT - Glucos</a:t>
            </a:r>
            <a:r>
              <a:rPr lang="en"/>
              <a:t>e3</a:t>
            </a:r>
            <a:endParaRPr/>
          </a:p>
        </p:txBody>
      </p:sp>
      <p:sp>
        <p:nvSpPr>
          <p:cNvPr id="433" name="Google Shape;433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0000FF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pip install python-sat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pysat.solvers </a:t>
            </a:r>
            <a:r>
              <a:rPr b="1" lang="en" sz="205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Glucose3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 = Glucose3()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g.add_clause([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g.add_clause([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g.add_clause([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g.add_clause([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-2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-3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-4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g.add_clause([</a:t>
            </a:r>
            <a:r>
              <a:rPr b="1" lang="en" sz="205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-4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795E26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(g.solve())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008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1" sz="2050">
              <a:solidFill>
                <a:srgbClr val="008000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g.get_model()</a:t>
            </a:r>
            <a:endParaRPr b="1" sz="2050"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008000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# [1, 2, 3, -4]</a:t>
            </a:r>
            <a:endParaRPr b="1" sz="3200"/>
          </a:p>
        </p:txBody>
      </p:sp>
      <p:sp>
        <p:nvSpPr>
          <p:cNvPr id="434" name="Google Shape;434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440" name="Google Shape;440;p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441" name="Google Shape;441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47" name="Google Shape;447;p6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448" name="Google Shape;448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